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58" r:id="rId4"/>
    <p:sldId id="259" r:id="rId5"/>
    <p:sldId id="260" r:id="rId6"/>
    <p:sldId id="261" r:id="rId7"/>
    <p:sldId id="267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1602" y="1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766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0A4D-4E54-7B18-6B18-9D45E0CC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355D9-5626-C5E0-DC82-465E256C4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9C7D2-5609-B0BD-E1EE-427CD4313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44496-C623-6150-E233-E6DFEB178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36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B110B-6253-44BA-7CF0-E069B492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F0026-4088-17F6-2B38-3AB785D3D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EA7966-F812-D5B6-08B8-3A54C5856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17A10-DAC1-B635-0258-F07074FAE5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19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90C0DD-B5E4-A182-18B2-6AC480B94F1E}"/>
              </a:ext>
            </a:extLst>
          </p:cNvPr>
          <p:cNvSpPr/>
          <p:nvPr/>
        </p:nvSpPr>
        <p:spPr>
          <a:xfrm>
            <a:off x="-3092115" y="2571749"/>
            <a:ext cx="9195974" cy="5153131"/>
          </a:xfrm>
          <a:custGeom>
            <a:avLst/>
            <a:gdLst>
              <a:gd name="connsiteX0" fmla="*/ 0 w 9195974"/>
              <a:gd name="connsiteY0" fmla="*/ 0 h 5153131"/>
              <a:gd name="connsiteX1" fmla="*/ 18751 w 9195974"/>
              <a:gd name="connsiteY1" fmla="*/ 0 h 5153131"/>
              <a:gd name="connsiteX2" fmla="*/ 159682 w 9195974"/>
              <a:gd name="connsiteY2" fmla="*/ 117871 h 5153131"/>
              <a:gd name="connsiteX3" fmla="*/ 4022395 w 9195974"/>
              <a:gd name="connsiteY3" fmla="*/ 3185968 h 5153131"/>
              <a:gd name="connsiteX4" fmla="*/ 9118621 w 9195974"/>
              <a:gd name="connsiteY4" fmla="*/ 5099454 h 5153131"/>
              <a:gd name="connsiteX5" fmla="*/ 9195974 w 9195974"/>
              <a:gd name="connsiteY5" fmla="*/ 5117453 h 5153131"/>
              <a:gd name="connsiteX6" fmla="*/ 9195974 w 9195974"/>
              <a:gd name="connsiteY6" fmla="*/ 5153131 h 5153131"/>
              <a:gd name="connsiteX7" fmla="*/ 0 w 9195974"/>
              <a:gd name="connsiteY7" fmla="*/ 5153131 h 5153131"/>
              <a:gd name="connsiteX8" fmla="*/ 0 w 9195974"/>
              <a:gd name="connsiteY8" fmla="*/ 0 h 515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5974" h="5153131">
                <a:moveTo>
                  <a:pt x="0" y="0"/>
                </a:moveTo>
                <a:lnTo>
                  <a:pt x="18751" y="0"/>
                </a:lnTo>
                <a:lnTo>
                  <a:pt x="159682" y="117871"/>
                </a:lnTo>
                <a:cubicBezTo>
                  <a:pt x="938129" y="784117"/>
                  <a:pt x="2584246" y="2385116"/>
                  <a:pt x="4022395" y="3185968"/>
                </a:cubicBezTo>
                <a:cubicBezTo>
                  <a:pt x="5508483" y="4013515"/>
                  <a:pt x="8023967" y="4837298"/>
                  <a:pt x="9118621" y="5099454"/>
                </a:cubicBezTo>
                <a:lnTo>
                  <a:pt x="9195974" y="5117453"/>
                </a:lnTo>
                <a:lnTo>
                  <a:pt x="9195974" y="5153131"/>
                </a:lnTo>
                <a:lnTo>
                  <a:pt x="0" y="5153131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882931A-A760-33E2-0C4E-4955BB0F1335}"/>
              </a:ext>
            </a:extLst>
          </p:cNvPr>
          <p:cNvSpPr/>
          <p:nvPr/>
        </p:nvSpPr>
        <p:spPr>
          <a:xfrm>
            <a:off x="5348741" y="-3299878"/>
            <a:ext cx="9177223" cy="5117453"/>
          </a:xfrm>
          <a:custGeom>
            <a:avLst/>
            <a:gdLst>
              <a:gd name="connsiteX0" fmla="*/ 0 w 9177223"/>
              <a:gd name="connsiteY0" fmla="*/ 0 h 5117453"/>
              <a:gd name="connsiteX1" fmla="*/ 9177223 w 9177223"/>
              <a:gd name="connsiteY1" fmla="*/ 0 h 5117453"/>
              <a:gd name="connsiteX2" fmla="*/ 9177223 w 9177223"/>
              <a:gd name="connsiteY2" fmla="*/ 5117453 h 5117453"/>
              <a:gd name="connsiteX3" fmla="*/ 9099870 w 9177223"/>
              <a:gd name="connsiteY3" fmla="*/ 5099454 h 5117453"/>
              <a:gd name="connsiteX4" fmla="*/ 4003644 w 9177223"/>
              <a:gd name="connsiteY4" fmla="*/ 3185968 h 5117453"/>
              <a:gd name="connsiteX5" fmla="*/ 140931 w 9177223"/>
              <a:gd name="connsiteY5" fmla="*/ 117871 h 5117453"/>
              <a:gd name="connsiteX6" fmla="*/ 0 w 9177223"/>
              <a:gd name="connsiteY6" fmla="*/ 0 h 5117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7223" h="5117453">
                <a:moveTo>
                  <a:pt x="0" y="0"/>
                </a:moveTo>
                <a:lnTo>
                  <a:pt x="9177223" y="0"/>
                </a:lnTo>
                <a:lnTo>
                  <a:pt x="9177223" y="5117453"/>
                </a:lnTo>
                <a:lnTo>
                  <a:pt x="9099870" y="5099454"/>
                </a:lnTo>
                <a:cubicBezTo>
                  <a:pt x="8005216" y="4837298"/>
                  <a:pt x="5489732" y="4013515"/>
                  <a:pt x="4003644" y="3185968"/>
                </a:cubicBezTo>
                <a:cubicBezTo>
                  <a:pt x="2565495" y="2385116"/>
                  <a:pt x="919378" y="784117"/>
                  <a:pt x="140931" y="117871"/>
                </a:cubicBez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A98A64-2703-122D-87F9-6D8FDC1C0CAC}"/>
              </a:ext>
            </a:extLst>
          </p:cNvPr>
          <p:cNvGrpSpPr/>
          <p:nvPr/>
        </p:nvGrpSpPr>
        <p:grpSpPr>
          <a:xfrm>
            <a:off x="457200" y="914400"/>
            <a:ext cx="8229600" cy="2834640"/>
            <a:chOff x="457200" y="914400"/>
            <a:chExt cx="8229600" cy="2834640"/>
          </a:xfrm>
        </p:grpSpPr>
        <p:sp>
          <p:nvSpPr>
            <p:cNvPr id="4" name="Text 2"/>
            <p:cNvSpPr/>
            <p:nvPr/>
          </p:nvSpPr>
          <p:spPr>
            <a:xfrm>
              <a:off x="457200" y="914400"/>
              <a:ext cx="8229600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LA VIOLENCE</a:t>
              </a:r>
              <a:endParaRPr lang="en-US" sz="5200" dirty="0"/>
            </a:p>
            <a:p>
              <a:pPr marL="0" indent="0" algn="l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SCOLAIRE</a:t>
              </a:r>
              <a:endParaRPr lang="en-US" sz="5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57200" y="3200400"/>
              <a:ext cx="5486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Causes, Conséquences &amp; Solutions</a:t>
              </a:r>
              <a:endParaRPr lang="en-US" sz="18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C1A2E65-188D-2211-E1D4-F15503C32663}"/>
              </a:ext>
            </a:extLst>
          </p:cNvPr>
          <p:cNvGrpSpPr/>
          <p:nvPr/>
        </p:nvGrpSpPr>
        <p:grpSpPr>
          <a:xfrm>
            <a:off x="5943600" y="3474720"/>
            <a:ext cx="3200400" cy="1668780"/>
            <a:chOff x="5943600" y="3474720"/>
            <a:chExt cx="3200400" cy="1668780"/>
          </a:xfrm>
        </p:grpSpPr>
        <p:sp>
          <p:nvSpPr>
            <p:cNvPr id="3" name="Shape 1"/>
            <p:cNvSpPr/>
            <p:nvPr/>
          </p:nvSpPr>
          <p:spPr>
            <a:xfrm>
              <a:off x="5943600" y="3474720"/>
              <a:ext cx="3200400" cy="1668780"/>
            </a:xfrm>
            <a:prstGeom prst="rect">
              <a:avLst/>
            </a:prstGeom>
            <a:solidFill>
              <a:srgbClr val="14213D"/>
            </a:solidFill>
            <a:ln w="12700">
              <a:solidFill>
                <a:srgbClr val="14213D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035040" y="3566160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3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Exposé scolaire</a:t>
              </a:r>
              <a:endParaRPr lang="en-US" sz="1300" dirty="0"/>
            </a:p>
          </p:txBody>
        </p:sp>
      </p:grpSp>
      <p:sp>
        <p:nvSpPr>
          <p:cNvPr id="11" name="Shape 0">
            <a:extLst>
              <a:ext uri="{FF2B5EF4-FFF2-40B4-BE49-F238E27FC236}">
                <a16:creationId xmlns:a16="http://schemas.microsoft.com/office/drawing/2014/main" id="{05320425-9628-ACCD-4E00-B3949BC5C8A7}"/>
              </a:ext>
            </a:extLst>
          </p:cNvPr>
          <p:cNvSpPr/>
          <p:nvPr/>
        </p:nvSpPr>
        <p:spPr>
          <a:xfrm>
            <a:off x="-12028" y="-111894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E7EBBBEF-4693-F9B0-3DBB-6192157B6B2B}"/>
              </a:ext>
            </a:extLst>
          </p:cNvPr>
          <p:cNvSpPr/>
          <p:nvPr/>
        </p:nvSpPr>
        <p:spPr>
          <a:xfrm>
            <a:off x="262292" y="-11189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L'EXPOSÉ</a:t>
            </a:r>
            <a:endParaRPr lang="en-US" sz="2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3943A0-316B-A1AA-2769-93EC1561FED2}"/>
              </a:ext>
            </a:extLst>
          </p:cNvPr>
          <p:cNvGrpSpPr/>
          <p:nvPr/>
        </p:nvGrpSpPr>
        <p:grpSpPr>
          <a:xfrm>
            <a:off x="-2812993" y="1142995"/>
            <a:ext cx="2651760" cy="1554480"/>
            <a:chOff x="3154680" y="1143000"/>
            <a:chExt cx="2651760" cy="1554480"/>
          </a:xfrm>
        </p:grpSpPr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01C74E61-8FA0-CDD4-A8E0-9157DC88BAAA}"/>
                </a:ext>
              </a:extLst>
            </p:cNvPr>
            <p:cNvSpPr/>
            <p:nvPr/>
          </p:nvSpPr>
          <p:spPr>
            <a:xfrm>
              <a:off x="3154680" y="114300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F4DC68EE-1328-A151-CE5A-2287FEF2A10B}"/>
                </a:ext>
              </a:extLst>
            </p:cNvPr>
            <p:cNvSpPr/>
            <p:nvPr/>
          </p:nvSpPr>
          <p:spPr>
            <a:xfrm>
              <a:off x="3154680" y="114300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3E95F715-6775-EB4F-E6AB-8CE30251442F}"/>
                </a:ext>
              </a:extLst>
            </p:cNvPr>
            <p:cNvSpPr/>
            <p:nvPr/>
          </p:nvSpPr>
          <p:spPr>
            <a:xfrm>
              <a:off x="3291840" y="128016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02</a:t>
              </a:r>
              <a:endParaRPr lang="en-US" sz="2200" dirty="0"/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7B833B19-0BFB-D84B-5930-EEAD4EC4019C}"/>
                </a:ext>
              </a:extLst>
            </p:cNvPr>
            <p:cNvSpPr/>
            <p:nvPr/>
          </p:nvSpPr>
          <p:spPr>
            <a:xfrm>
              <a:off x="3291840" y="167335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Causes</a:t>
              </a:r>
              <a:endParaRPr lang="en-US" sz="1400" dirty="0"/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D26DE145-0D87-2928-C004-04472E4D0BAA}"/>
                </a:ext>
              </a:extLst>
            </p:cNvPr>
            <p:cNvSpPr/>
            <p:nvPr/>
          </p:nvSpPr>
          <p:spPr>
            <a:xfrm>
              <a:off x="3291840" y="203911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facteurs qui mènent à la violence en milieu scolaire</a:t>
              </a:r>
              <a:endParaRPr lang="en-US" sz="10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98966C8-E753-995F-312C-8C84C8D51BD2}"/>
              </a:ext>
            </a:extLst>
          </p:cNvPr>
          <p:cNvGrpSpPr/>
          <p:nvPr/>
        </p:nvGrpSpPr>
        <p:grpSpPr>
          <a:xfrm>
            <a:off x="9355761" y="1143000"/>
            <a:ext cx="2651760" cy="1554480"/>
            <a:chOff x="6035040" y="1143000"/>
            <a:chExt cx="2651760" cy="1554480"/>
          </a:xfrm>
        </p:grpSpPr>
        <p:sp>
          <p:nvSpPr>
            <p:cNvPr id="20" name="Shape 12">
              <a:extLst>
                <a:ext uri="{FF2B5EF4-FFF2-40B4-BE49-F238E27FC236}">
                  <a16:creationId xmlns:a16="http://schemas.microsoft.com/office/drawing/2014/main" id="{03B6EF2D-9598-EA19-3DB9-3EB1A9CEDA26}"/>
                </a:ext>
              </a:extLst>
            </p:cNvPr>
            <p:cNvSpPr/>
            <p:nvPr/>
          </p:nvSpPr>
          <p:spPr>
            <a:xfrm>
              <a:off x="6035040" y="114300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1" name="Shape 13">
              <a:extLst>
                <a:ext uri="{FF2B5EF4-FFF2-40B4-BE49-F238E27FC236}">
                  <a16:creationId xmlns:a16="http://schemas.microsoft.com/office/drawing/2014/main" id="{F30706E5-B6B3-BAFC-85E8-5A548D222008}"/>
                </a:ext>
              </a:extLst>
            </p:cNvPr>
            <p:cNvSpPr/>
            <p:nvPr/>
          </p:nvSpPr>
          <p:spPr>
            <a:xfrm>
              <a:off x="6035040" y="114300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BD3A57E5-6065-BC9C-3A41-F0CAB6232DD1}"/>
                </a:ext>
              </a:extLst>
            </p:cNvPr>
            <p:cNvSpPr/>
            <p:nvPr/>
          </p:nvSpPr>
          <p:spPr>
            <a:xfrm>
              <a:off x="6172200" y="128016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03</a:t>
              </a:r>
              <a:endParaRPr lang="en-US" sz="2200" dirty="0"/>
            </a:p>
          </p:txBody>
        </p:sp>
        <p:sp>
          <p:nvSpPr>
            <p:cNvPr id="23" name="Text 15">
              <a:extLst>
                <a:ext uri="{FF2B5EF4-FFF2-40B4-BE49-F238E27FC236}">
                  <a16:creationId xmlns:a16="http://schemas.microsoft.com/office/drawing/2014/main" id="{ADC43C98-462F-4A1B-A183-E5DFC55A45B2}"/>
                </a:ext>
              </a:extLst>
            </p:cNvPr>
            <p:cNvSpPr/>
            <p:nvPr/>
          </p:nvSpPr>
          <p:spPr>
            <a:xfrm>
              <a:off x="6172200" y="167335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Conséquences</a:t>
              </a:r>
              <a:endParaRPr lang="en-US" sz="1400" dirty="0"/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682FDC1E-0E3D-441C-BB18-7C4D3CC11524}"/>
                </a:ext>
              </a:extLst>
            </p:cNvPr>
            <p:cNvSpPr/>
            <p:nvPr/>
          </p:nvSpPr>
          <p:spPr>
            <a:xfrm>
              <a:off x="6172200" y="203911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impacts sur les élèves, les familles et l'école</a:t>
              </a:r>
              <a:endParaRPr lang="en-US" sz="10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242629C-00EC-8F76-88D5-40E2F90E7963}"/>
              </a:ext>
            </a:extLst>
          </p:cNvPr>
          <p:cNvGrpSpPr/>
          <p:nvPr/>
        </p:nvGrpSpPr>
        <p:grpSpPr>
          <a:xfrm>
            <a:off x="1508760" y="5455123"/>
            <a:ext cx="2651760" cy="1554480"/>
            <a:chOff x="1508760" y="3108960"/>
            <a:chExt cx="2651760" cy="1554480"/>
          </a:xfrm>
        </p:grpSpPr>
        <p:sp>
          <p:nvSpPr>
            <p:cNvPr id="26" name="Shape 17">
              <a:extLst>
                <a:ext uri="{FF2B5EF4-FFF2-40B4-BE49-F238E27FC236}">
                  <a16:creationId xmlns:a16="http://schemas.microsoft.com/office/drawing/2014/main" id="{89DB558B-B7FD-2817-6D5B-FB13A03EC3ED}"/>
                </a:ext>
              </a:extLst>
            </p:cNvPr>
            <p:cNvSpPr/>
            <p:nvPr/>
          </p:nvSpPr>
          <p:spPr>
            <a:xfrm>
              <a:off x="1508760" y="310896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1C402BC7-B6EB-23D8-4267-C251C0E5882E}"/>
                </a:ext>
              </a:extLst>
            </p:cNvPr>
            <p:cNvSpPr/>
            <p:nvPr/>
          </p:nvSpPr>
          <p:spPr>
            <a:xfrm>
              <a:off x="1508760" y="310896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959D8068-D11F-42F8-80BC-783E340E15B0}"/>
                </a:ext>
              </a:extLst>
            </p:cNvPr>
            <p:cNvSpPr/>
            <p:nvPr/>
          </p:nvSpPr>
          <p:spPr>
            <a:xfrm>
              <a:off x="1645920" y="324612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04</a:t>
              </a:r>
              <a:endParaRPr lang="en-US" sz="2200" dirty="0"/>
            </a:p>
          </p:txBody>
        </p:sp>
        <p:sp>
          <p:nvSpPr>
            <p:cNvPr id="29" name="Text 20">
              <a:extLst>
                <a:ext uri="{FF2B5EF4-FFF2-40B4-BE49-F238E27FC236}">
                  <a16:creationId xmlns:a16="http://schemas.microsoft.com/office/drawing/2014/main" id="{F0F156B9-F1C5-F2D8-2D44-27C62D253CE6}"/>
                </a:ext>
              </a:extLst>
            </p:cNvPr>
            <p:cNvSpPr/>
            <p:nvPr/>
          </p:nvSpPr>
          <p:spPr>
            <a:xfrm>
              <a:off x="1645920" y="363931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Solutions</a:t>
              </a:r>
              <a:endParaRPr lang="en-US" sz="1400" dirty="0"/>
            </a:p>
          </p:txBody>
        </p:sp>
        <p:sp>
          <p:nvSpPr>
            <p:cNvPr id="30" name="Text 21">
              <a:extLst>
                <a:ext uri="{FF2B5EF4-FFF2-40B4-BE49-F238E27FC236}">
                  <a16:creationId xmlns:a16="http://schemas.microsoft.com/office/drawing/2014/main" id="{427DA750-778A-E273-12C5-480AEA46C70B}"/>
                </a:ext>
              </a:extLst>
            </p:cNvPr>
            <p:cNvSpPr/>
            <p:nvPr/>
          </p:nvSpPr>
          <p:spPr>
            <a:xfrm>
              <a:off x="1645920" y="400507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mesures pratiques et politiques à adopter</a:t>
              </a:r>
              <a:endParaRPr lang="en-US" sz="10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4E4D241-A34D-9171-FA79-5ECCB5F7B1BB}"/>
              </a:ext>
            </a:extLst>
          </p:cNvPr>
          <p:cNvGrpSpPr/>
          <p:nvPr/>
        </p:nvGrpSpPr>
        <p:grpSpPr>
          <a:xfrm>
            <a:off x="4389120" y="5479181"/>
            <a:ext cx="2651760" cy="1554480"/>
            <a:chOff x="4389120" y="3108960"/>
            <a:chExt cx="2651760" cy="1554480"/>
          </a:xfrm>
        </p:grpSpPr>
        <p:sp>
          <p:nvSpPr>
            <p:cNvPr id="32" name="Shape 22">
              <a:extLst>
                <a:ext uri="{FF2B5EF4-FFF2-40B4-BE49-F238E27FC236}">
                  <a16:creationId xmlns:a16="http://schemas.microsoft.com/office/drawing/2014/main" id="{B30EC67D-188B-4262-7E59-131B4ABD5C8C}"/>
                </a:ext>
              </a:extLst>
            </p:cNvPr>
            <p:cNvSpPr/>
            <p:nvPr/>
          </p:nvSpPr>
          <p:spPr>
            <a:xfrm>
              <a:off x="4389120" y="310896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3" name="Shape 23">
              <a:extLst>
                <a:ext uri="{FF2B5EF4-FFF2-40B4-BE49-F238E27FC236}">
                  <a16:creationId xmlns:a16="http://schemas.microsoft.com/office/drawing/2014/main" id="{67F6D50A-5F95-CB06-3C7B-BA69B46E5037}"/>
                </a:ext>
              </a:extLst>
            </p:cNvPr>
            <p:cNvSpPr/>
            <p:nvPr/>
          </p:nvSpPr>
          <p:spPr>
            <a:xfrm>
              <a:off x="4389120" y="310896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34" name="Text 24">
              <a:extLst>
                <a:ext uri="{FF2B5EF4-FFF2-40B4-BE49-F238E27FC236}">
                  <a16:creationId xmlns:a16="http://schemas.microsoft.com/office/drawing/2014/main" id="{85528F1F-32A9-4CC7-71C5-411F12063B6A}"/>
                </a:ext>
              </a:extLst>
            </p:cNvPr>
            <p:cNvSpPr/>
            <p:nvPr/>
          </p:nvSpPr>
          <p:spPr>
            <a:xfrm>
              <a:off x="4526280" y="324612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05</a:t>
              </a:r>
              <a:endParaRPr lang="en-US" sz="2200" dirty="0"/>
            </a:p>
          </p:txBody>
        </p:sp>
        <p:sp>
          <p:nvSpPr>
            <p:cNvPr id="35" name="Text 25">
              <a:extLst>
                <a:ext uri="{FF2B5EF4-FFF2-40B4-BE49-F238E27FC236}">
                  <a16:creationId xmlns:a16="http://schemas.microsoft.com/office/drawing/2014/main" id="{76088132-97CD-3A7E-11E9-9D30F66BDB7C}"/>
                </a:ext>
              </a:extLst>
            </p:cNvPr>
            <p:cNvSpPr/>
            <p:nvPr/>
          </p:nvSpPr>
          <p:spPr>
            <a:xfrm>
              <a:off x="4526280" y="363931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Avis Personnel</a:t>
              </a:r>
              <a:endParaRPr lang="en-US" sz="1400" dirty="0"/>
            </a:p>
          </p:txBody>
        </p:sp>
        <p:sp>
          <p:nvSpPr>
            <p:cNvPr id="36" name="Text 26">
              <a:extLst>
                <a:ext uri="{FF2B5EF4-FFF2-40B4-BE49-F238E27FC236}">
                  <a16:creationId xmlns:a16="http://schemas.microsoft.com/office/drawing/2014/main" id="{0FF56A17-CE14-5DB0-2F0F-11B4069D9CEB}"/>
                </a:ext>
              </a:extLst>
            </p:cNvPr>
            <p:cNvSpPr/>
            <p:nvPr/>
          </p:nvSpPr>
          <p:spPr>
            <a:xfrm>
              <a:off x="4526280" y="400507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Notre point de vue et conclusion</a:t>
              </a:r>
              <a:endParaRPr lang="en-US" sz="10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70FA5-7250-F157-87B4-99056D5B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B385BD2-9A5E-D17D-0300-AC97A5C6F8E0}"/>
              </a:ext>
            </a:extLst>
          </p:cNvPr>
          <p:cNvSpPr/>
          <p:nvPr/>
        </p:nvSpPr>
        <p:spPr>
          <a:xfrm>
            <a:off x="0" y="26047"/>
            <a:ext cx="9195974" cy="5153131"/>
          </a:xfrm>
          <a:custGeom>
            <a:avLst/>
            <a:gdLst>
              <a:gd name="connsiteX0" fmla="*/ 0 w 9195974"/>
              <a:gd name="connsiteY0" fmla="*/ 0 h 5153131"/>
              <a:gd name="connsiteX1" fmla="*/ 18751 w 9195974"/>
              <a:gd name="connsiteY1" fmla="*/ 0 h 5153131"/>
              <a:gd name="connsiteX2" fmla="*/ 159682 w 9195974"/>
              <a:gd name="connsiteY2" fmla="*/ 117871 h 5153131"/>
              <a:gd name="connsiteX3" fmla="*/ 4022395 w 9195974"/>
              <a:gd name="connsiteY3" fmla="*/ 3185968 h 5153131"/>
              <a:gd name="connsiteX4" fmla="*/ 9118621 w 9195974"/>
              <a:gd name="connsiteY4" fmla="*/ 5099454 h 5153131"/>
              <a:gd name="connsiteX5" fmla="*/ 9195974 w 9195974"/>
              <a:gd name="connsiteY5" fmla="*/ 5117453 h 5153131"/>
              <a:gd name="connsiteX6" fmla="*/ 9195974 w 9195974"/>
              <a:gd name="connsiteY6" fmla="*/ 5153131 h 5153131"/>
              <a:gd name="connsiteX7" fmla="*/ 0 w 9195974"/>
              <a:gd name="connsiteY7" fmla="*/ 5153131 h 5153131"/>
              <a:gd name="connsiteX8" fmla="*/ 0 w 9195974"/>
              <a:gd name="connsiteY8" fmla="*/ 0 h 515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95974" h="5153131">
                <a:moveTo>
                  <a:pt x="0" y="0"/>
                </a:moveTo>
                <a:lnTo>
                  <a:pt x="18751" y="0"/>
                </a:lnTo>
                <a:lnTo>
                  <a:pt x="159682" y="117871"/>
                </a:lnTo>
                <a:cubicBezTo>
                  <a:pt x="938129" y="784117"/>
                  <a:pt x="2584246" y="2385116"/>
                  <a:pt x="4022395" y="3185968"/>
                </a:cubicBezTo>
                <a:cubicBezTo>
                  <a:pt x="5508483" y="4013515"/>
                  <a:pt x="8023967" y="4837298"/>
                  <a:pt x="9118621" y="5099454"/>
                </a:cubicBezTo>
                <a:lnTo>
                  <a:pt x="9195974" y="5117453"/>
                </a:lnTo>
                <a:lnTo>
                  <a:pt x="9195974" y="5153131"/>
                </a:lnTo>
                <a:lnTo>
                  <a:pt x="0" y="5153131"/>
                </a:ln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52081C2E-8F15-457C-07DF-5322F9BC9610}"/>
              </a:ext>
            </a:extLst>
          </p:cNvPr>
          <p:cNvSpPr/>
          <p:nvPr/>
        </p:nvSpPr>
        <p:spPr>
          <a:xfrm>
            <a:off x="-33223" y="0"/>
            <a:ext cx="9177223" cy="5117453"/>
          </a:xfrm>
          <a:custGeom>
            <a:avLst/>
            <a:gdLst>
              <a:gd name="connsiteX0" fmla="*/ 0 w 9177223"/>
              <a:gd name="connsiteY0" fmla="*/ 0 h 5117453"/>
              <a:gd name="connsiteX1" fmla="*/ 9177223 w 9177223"/>
              <a:gd name="connsiteY1" fmla="*/ 0 h 5117453"/>
              <a:gd name="connsiteX2" fmla="*/ 9177223 w 9177223"/>
              <a:gd name="connsiteY2" fmla="*/ 5117453 h 5117453"/>
              <a:gd name="connsiteX3" fmla="*/ 9099870 w 9177223"/>
              <a:gd name="connsiteY3" fmla="*/ 5099454 h 5117453"/>
              <a:gd name="connsiteX4" fmla="*/ 4003644 w 9177223"/>
              <a:gd name="connsiteY4" fmla="*/ 3185968 h 5117453"/>
              <a:gd name="connsiteX5" fmla="*/ 140931 w 9177223"/>
              <a:gd name="connsiteY5" fmla="*/ 117871 h 5117453"/>
              <a:gd name="connsiteX6" fmla="*/ 0 w 9177223"/>
              <a:gd name="connsiteY6" fmla="*/ 0 h 5117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7223" h="5117453">
                <a:moveTo>
                  <a:pt x="0" y="0"/>
                </a:moveTo>
                <a:lnTo>
                  <a:pt x="9177223" y="0"/>
                </a:lnTo>
                <a:lnTo>
                  <a:pt x="9177223" y="5117453"/>
                </a:lnTo>
                <a:lnTo>
                  <a:pt x="9099870" y="5099454"/>
                </a:lnTo>
                <a:cubicBezTo>
                  <a:pt x="8005216" y="4837298"/>
                  <a:pt x="5489732" y="4013515"/>
                  <a:pt x="4003644" y="3185968"/>
                </a:cubicBezTo>
                <a:cubicBezTo>
                  <a:pt x="2565495" y="2385116"/>
                  <a:pt x="919378" y="784117"/>
                  <a:pt x="140931" y="117871"/>
                </a:cubicBezTo>
                <a:lnTo>
                  <a:pt x="0" y="0"/>
                </a:lnTo>
                <a:close/>
              </a:path>
            </a:pathLst>
          </a:custGeom>
          <a:solidFill>
            <a:srgbClr val="F4F6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B20847D-F435-D965-2E8E-92ECB134E89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A4F82B-467A-BA7C-58FB-68D0BE0FEC34}"/>
              </a:ext>
            </a:extLst>
          </p:cNvPr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L'EXPOSÉ</a:t>
            </a:r>
            <a:endParaRPr lang="en-US" sz="26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50459B-9CB6-95E8-DEB4-01851EB93562}"/>
              </a:ext>
            </a:extLst>
          </p:cNvPr>
          <p:cNvGrpSpPr/>
          <p:nvPr/>
        </p:nvGrpSpPr>
        <p:grpSpPr>
          <a:xfrm>
            <a:off x="274320" y="1143000"/>
            <a:ext cx="2651760" cy="1554480"/>
            <a:chOff x="274320" y="1143000"/>
            <a:chExt cx="2651760" cy="155448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786AC752-7E32-2845-F8A9-76D92C36D397}"/>
                </a:ext>
              </a:extLst>
            </p:cNvPr>
            <p:cNvSpPr/>
            <p:nvPr/>
          </p:nvSpPr>
          <p:spPr>
            <a:xfrm>
              <a:off x="274320" y="114300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AB2E2136-C222-51B9-1DC8-B3892E3E7E01}"/>
                </a:ext>
              </a:extLst>
            </p:cNvPr>
            <p:cNvSpPr/>
            <p:nvPr/>
          </p:nvSpPr>
          <p:spPr>
            <a:xfrm>
              <a:off x="274320" y="114300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4661468C-E9C1-C166-19E3-FA5EC99FFEA5}"/>
                </a:ext>
              </a:extLst>
            </p:cNvPr>
            <p:cNvSpPr/>
            <p:nvPr/>
          </p:nvSpPr>
          <p:spPr>
            <a:xfrm>
              <a:off x="411480" y="128016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01</a:t>
              </a:r>
              <a:endParaRPr lang="en-US" sz="22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D0F96195-BE72-72D2-ADB4-2ACBE93F8F5C}"/>
                </a:ext>
              </a:extLst>
            </p:cNvPr>
            <p:cNvSpPr/>
            <p:nvPr/>
          </p:nvSpPr>
          <p:spPr>
            <a:xfrm>
              <a:off x="411480" y="167335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Définition</a:t>
              </a:r>
              <a:endParaRPr lang="en-US" sz="14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A5ACE0C9-DD10-3414-4DCA-B77ACDA980F6}"/>
                </a:ext>
              </a:extLst>
            </p:cNvPr>
            <p:cNvSpPr/>
            <p:nvPr/>
          </p:nvSpPr>
          <p:spPr>
            <a:xfrm>
              <a:off x="411480" y="203911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Qu'est-ce que la violence scolaire ?</a:t>
              </a:r>
              <a:endParaRPr lang="en-US" sz="10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B57572C-2F3F-12E8-EA36-B9A24670138D}"/>
              </a:ext>
            </a:extLst>
          </p:cNvPr>
          <p:cNvGrpSpPr/>
          <p:nvPr/>
        </p:nvGrpSpPr>
        <p:grpSpPr>
          <a:xfrm>
            <a:off x="3154680" y="1143000"/>
            <a:ext cx="2651760" cy="1554480"/>
            <a:chOff x="3154680" y="1143000"/>
            <a:chExt cx="2651760" cy="1554480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691A8582-48DA-5E79-003A-E0BDA0D64615}"/>
                </a:ext>
              </a:extLst>
            </p:cNvPr>
            <p:cNvSpPr/>
            <p:nvPr/>
          </p:nvSpPr>
          <p:spPr>
            <a:xfrm>
              <a:off x="3154680" y="114300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5CBCB539-BF92-0433-5CC6-65AF21973888}"/>
                </a:ext>
              </a:extLst>
            </p:cNvPr>
            <p:cNvSpPr/>
            <p:nvPr/>
          </p:nvSpPr>
          <p:spPr>
            <a:xfrm>
              <a:off x="3154680" y="114300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B58DD016-7894-8FBF-6C8D-3FC6A3E08DE4}"/>
                </a:ext>
              </a:extLst>
            </p:cNvPr>
            <p:cNvSpPr/>
            <p:nvPr/>
          </p:nvSpPr>
          <p:spPr>
            <a:xfrm>
              <a:off x="3291840" y="128016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02</a:t>
              </a:r>
              <a:endParaRPr lang="en-US" sz="22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1EA15344-17BD-4721-1538-6D30039877BF}"/>
                </a:ext>
              </a:extLst>
            </p:cNvPr>
            <p:cNvSpPr/>
            <p:nvPr/>
          </p:nvSpPr>
          <p:spPr>
            <a:xfrm>
              <a:off x="3291840" y="167335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Causes</a:t>
              </a:r>
              <a:endParaRPr lang="en-US" sz="14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B9498586-42F8-5940-8D8D-FD30CA219198}"/>
                </a:ext>
              </a:extLst>
            </p:cNvPr>
            <p:cNvSpPr/>
            <p:nvPr/>
          </p:nvSpPr>
          <p:spPr>
            <a:xfrm>
              <a:off x="3291840" y="203911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facteurs qui mènent à la violence en milieu scolaire</a:t>
              </a:r>
              <a:endParaRPr lang="en-US" sz="10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F749D24-DE0B-46AE-4689-4289B6438538}"/>
              </a:ext>
            </a:extLst>
          </p:cNvPr>
          <p:cNvGrpSpPr/>
          <p:nvPr/>
        </p:nvGrpSpPr>
        <p:grpSpPr>
          <a:xfrm>
            <a:off x="6035040" y="1143000"/>
            <a:ext cx="2651760" cy="1554480"/>
            <a:chOff x="6035040" y="1143000"/>
            <a:chExt cx="2651760" cy="1554480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B84AEE65-017E-D0BD-606F-523B8140699B}"/>
                </a:ext>
              </a:extLst>
            </p:cNvPr>
            <p:cNvSpPr/>
            <p:nvPr/>
          </p:nvSpPr>
          <p:spPr>
            <a:xfrm>
              <a:off x="6035040" y="114300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3B3ABA57-70E4-4F4B-4D5E-CAF4AFEA8C37}"/>
                </a:ext>
              </a:extLst>
            </p:cNvPr>
            <p:cNvSpPr/>
            <p:nvPr/>
          </p:nvSpPr>
          <p:spPr>
            <a:xfrm>
              <a:off x="6035040" y="114300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26537269-8F82-5C5E-85A8-5E92EB958E38}"/>
                </a:ext>
              </a:extLst>
            </p:cNvPr>
            <p:cNvSpPr/>
            <p:nvPr/>
          </p:nvSpPr>
          <p:spPr>
            <a:xfrm>
              <a:off x="6172200" y="128016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03</a:t>
              </a:r>
              <a:endParaRPr lang="en-US" sz="22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DDCE48F1-5338-1E13-C080-BA6F8459D109}"/>
                </a:ext>
              </a:extLst>
            </p:cNvPr>
            <p:cNvSpPr/>
            <p:nvPr/>
          </p:nvSpPr>
          <p:spPr>
            <a:xfrm>
              <a:off x="6172200" y="167335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Conséquences</a:t>
              </a:r>
              <a:endParaRPr lang="en-US" sz="14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22DCD237-DF54-14F6-A388-E7EE8B96FF38}"/>
                </a:ext>
              </a:extLst>
            </p:cNvPr>
            <p:cNvSpPr/>
            <p:nvPr/>
          </p:nvSpPr>
          <p:spPr>
            <a:xfrm>
              <a:off x="6172200" y="203911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impacts sur les élèves, les familles et l'école</a:t>
              </a:r>
              <a:endParaRPr lang="en-US" sz="10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E27674-CD85-0422-0DB2-44561DA85688}"/>
              </a:ext>
            </a:extLst>
          </p:cNvPr>
          <p:cNvGrpSpPr/>
          <p:nvPr/>
        </p:nvGrpSpPr>
        <p:grpSpPr>
          <a:xfrm>
            <a:off x="1508760" y="3108960"/>
            <a:ext cx="2651760" cy="1554480"/>
            <a:chOff x="1508760" y="3108960"/>
            <a:chExt cx="2651760" cy="1554480"/>
          </a:xfrm>
        </p:grpSpPr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B3FE8E51-3922-2923-9D14-A61A1A567E4E}"/>
                </a:ext>
              </a:extLst>
            </p:cNvPr>
            <p:cNvSpPr/>
            <p:nvPr/>
          </p:nvSpPr>
          <p:spPr>
            <a:xfrm>
              <a:off x="1508760" y="310896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ACD876C0-4CC0-794A-E45E-A54A6F7D2E74}"/>
                </a:ext>
              </a:extLst>
            </p:cNvPr>
            <p:cNvSpPr/>
            <p:nvPr/>
          </p:nvSpPr>
          <p:spPr>
            <a:xfrm>
              <a:off x="1508760" y="310896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F5B91B68-8575-F430-EB51-7BCDFDBB7FDE}"/>
                </a:ext>
              </a:extLst>
            </p:cNvPr>
            <p:cNvSpPr/>
            <p:nvPr/>
          </p:nvSpPr>
          <p:spPr>
            <a:xfrm>
              <a:off x="1645920" y="324612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04</a:t>
              </a:r>
              <a:endParaRPr lang="en-US" sz="22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6A23D68E-C929-0959-F3F9-85A3D5F6B487}"/>
                </a:ext>
              </a:extLst>
            </p:cNvPr>
            <p:cNvSpPr/>
            <p:nvPr/>
          </p:nvSpPr>
          <p:spPr>
            <a:xfrm>
              <a:off x="1645920" y="363931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Solutions</a:t>
              </a:r>
              <a:endParaRPr lang="en-US" sz="14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81F67D70-828C-D6DC-83B4-8FD35F016D44}"/>
                </a:ext>
              </a:extLst>
            </p:cNvPr>
            <p:cNvSpPr/>
            <p:nvPr/>
          </p:nvSpPr>
          <p:spPr>
            <a:xfrm>
              <a:off x="1645920" y="400507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mesures pratiques et politiques à adopter</a:t>
              </a:r>
              <a:endParaRPr lang="en-US" sz="10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0107FB6-2FDA-369C-73F3-15293C2F3F43}"/>
              </a:ext>
            </a:extLst>
          </p:cNvPr>
          <p:cNvGrpSpPr/>
          <p:nvPr/>
        </p:nvGrpSpPr>
        <p:grpSpPr>
          <a:xfrm>
            <a:off x="4389120" y="3108960"/>
            <a:ext cx="2651760" cy="1554480"/>
            <a:chOff x="4389120" y="3108960"/>
            <a:chExt cx="2651760" cy="1554480"/>
          </a:xfrm>
        </p:grpSpPr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3FFCF648-44E4-6CAE-2108-9C4FFA9CE925}"/>
                </a:ext>
              </a:extLst>
            </p:cNvPr>
            <p:cNvSpPr/>
            <p:nvPr/>
          </p:nvSpPr>
          <p:spPr>
            <a:xfrm>
              <a:off x="4389120" y="310896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34CAE38F-DA67-E64C-1ED1-C8A3C11FDA0E}"/>
                </a:ext>
              </a:extLst>
            </p:cNvPr>
            <p:cNvSpPr/>
            <p:nvPr/>
          </p:nvSpPr>
          <p:spPr>
            <a:xfrm>
              <a:off x="4389120" y="310896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5DDDA378-BFBC-5BF9-17B0-E2A009DF8234}"/>
                </a:ext>
              </a:extLst>
            </p:cNvPr>
            <p:cNvSpPr/>
            <p:nvPr/>
          </p:nvSpPr>
          <p:spPr>
            <a:xfrm>
              <a:off x="4526280" y="324612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05</a:t>
              </a:r>
              <a:endParaRPr lang="en-US" sz="22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2A41ED60-F646-29FE-25B4-0CC0A46BDC76}"/>
                </a:ext>
              </a:extLst>
            </p:cNvPr>
            <p:cNvSpPr/>
            <p:nvPr/>
          </p:nvSpPr>
          <p:spPr>
            <a:xfrm>
              <a:off x="4526280" y="363931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Avis Personnel</a:t>
              </a:r>
              <a:endParaRPr lang="en-US" sz="14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A0247C9B-DFA4-F324-B49D-FDD5D64F3595}"/>
                </a:ext>
              </a:extLst>
            </p:cNvPr>
            <p:cNvSpPr/>
            <p:nvPr/>
          </p:nvSpPr>
          <p:spPr>
            <a:xfrm>
              <a:off x="4526280" y="400507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Notre point de vue et conclusion</a:t>
              </a:r>
              <a:endParaRPr lang="en-US" sz="10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36E2E67-41B7-4AFD-5AE9-84B47F7F2063}"/>
              </a:ext>
            </a:extLst>
          </p:cNvPr>
          <p:cNvGrpSpPr/>
          <p:nvPr/>
        </p:nvGrpSpPr>
        <p:grpSpPr>
          <a:xfrm>
            <a:off x="-5601911" y="1097280"/>
            <a:ext cx="5303520" cy="3474720"/>
            <a:chOff x="365760" y="1097280"/>
            <a:chExt cx="5303520" cy="3474720"/>
          </a:xfrm>
        </p:grpSpPr>
        <p:sp>
          <p:nvSpPr>
            <p:cNvPr id="36" name="Shape 2">
              <a:extLst>
                <a:ext uri="{FF2B5EF4-FFF2-40B4-BE49-F238E27FC236}">
                  <a16:creationId xmlns:a16="http://schemas.microsoft.com/office/drawing/2014/main" id="{222AE1A2-3CEA-C645-E5C4-BD23F6ED53D3}"/>
                </a:ext>
              </a:extLst>
            </p:cNvPr>
            <p:cNvSpPr/>
            <p:nvPr/>
          </p:nvSpPr>
          <p:spPr>
            <a:xfrm>
              <a:off x="365760" y="1097280"/>
              <a:ext cx="5303520" cy="3474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7" name="Shape 3">
              <a:extLst>
                <a:ext uri="{FF2B5EF4-FFF2-40B4-BE49-F238E27FC236}">
                  <a16:creationId xmlns:a16="http://schemas.microsoft.com/office/drawing/2014/main" id="{25C13095-F1BC-BD4D-160B-22BE9FEBBA8A}"/>
                </a:ext>
              </a:extLst>
            </p:cNvPr>
            <p:cNvSpPr/>
            <p:nvPr/>
          </p:nvSpPr>
          <p:spPr>
            <a:xfrm>
              <a:off x="365760" y="1097280"/>
              <a:ext cx="91440" cy="347472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38" name="Text 4">
              <a:extLst>
                <a:ext uri="{FF2B5EF4-FFF2-40B4-BE49-F238E27FC236}">
                  <a16:creationId xmlns:a16="http://schemas.microsoft.com/office/drawing/2014/main" id="{EAC0ADB9-024E-4BC2-3A01-282D52387A0B}"/>
                </a:ext>
              </a:extLst>
            </p:cNvPr>
            <p:cNvSpPr/>
            <p:nvPr/>
          </p:nvSpPr>
          <p:spPr>
            <a:xfrm>
              <a:off x="594360" y="1280160"/>
              <a:ext cx="4937760" cy="1828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violence scolaire désigne tout acte d'agression physique, verbale ou psychologique survenant dans le milieu scolaire — entre élèves, ou envers le personnel enseignant.</a:t>
              </a:r>
              <a:endParaRPr lang="en-US" sz="1500" dirty="0"/>
            </a:p>
          </p:txBody>
        </p:sp>
        <p:sp>
          <p:nvSpPr>
            <p:cNvPr id="39" name="Text 5">
              <a:extLst>
                <a:ext uri="{FF2B5EF4-FFF2-40B4-BE49-F238E27FC236}">
                  <a16:creationId xmlns:a16="http://schemas.microsoft.com/office/drawing/2014/main" id="{C2257401-650A-6D78-1239-00DEEF5878DE}"/>
                </a:ext>
              </a:extLst>
            </p:cNvPr>
            <p:cNvSpPr/>
            <p:nvPr/>
          </p:nvSpPr>
          <p:spPr>
            <a:xfrm>
              <a:off x="594360" y="2971800"/>
              <a:ext cx="4937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Elle peut prendre plusieurs formes :</a:t>
              </a:r>
              <a:endParaRPr lang="en-US" sz="1300" dirty="0"/>
            </a:p>
          </p:txBody>
        </p:sp>
        <p:sp>
          <p:nvSpPr>
            <p:cNvPr id="40" name="Text 6">
              <a:extLst>
                <a:ext uri="{FF2B5EF4-FFF2-40B4-BE49-F238E27FC236}">
                  <a16:creationId xmlns:a16="http://schemas.microsoft.com/office/drawing/2014/main" id="{B7DB8FE3-4C45-9F5F-9DE6-CA9642024595}"/>
                </a:ext>
              </a:extLst>
            </p:cNvPr>
            <p:cNvSpPr/>
            <p:nvPr/>
          </p:nvSpPr>
          <p:spPr>
            <a:xfrm>
              <a:off x="594360" y="3337560"/>
              <a:ext cx="493776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30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Violence physique</a:t>
              </a:r>
              <a:endParaRPr lang="en-US" sz="1300" dirty="0"/>
            </a:p>
            <a:p>
              <a:pPr marL="342900" indent="-342900">
                <a:buSzPct val="100000"/>
                <a:buChar char="•"/>
              </a:pPr>
              <a:r>
                <a:rPr lang="en-US" sz="13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Violence verbale &amp; cyberharcèlement</a:t>
              </a:r>
              <a:endParaRPr lang="en-US" sz="1300" dirty="0"/>
            </a:p>
            <a:p>
              <a:pPr marL="342900" indent="-342900">
                <a:buSzPct val="100000"/>
                <a:buChar char="•"/>
              </a:pPr>
              <a:r>
                <a:rPr lang="en-US" sz="13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Violence psychologique &amp; exclusion</a:t>
              </a:r>
              <a:endParaRPr lang="en-US" sz="1300" dirty="0"/>
            </a:p>
          </p:txBody>
        </p:sp>
      </p:grpSp>
      <p:sp>
        <p:nvSpPr>
          <p:cNvPr id="41" name="Text 1">
            <a:extLst>
              <a:ext uri="{FF2B5EF4-FFF2-40B4-BE49-F238E27FC236}">
                <a16:creationId xmlns:a16="http://schemas.microsoft.com/office/drawing/2014/main" id="{46E330D7-A272-3FB9-82B4-FB5A24EFE04F}"/>
              </a:ext>
            </a:extLst>
          </p:cNvPr>
          <p:cNvSpPr/>
          <p:nvPr/>
        </p:nvSpPr>
        <p:spPr>
          <a:xfrm>
            <a:off x="-3142653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DÉFINITION</a:t>
            </a:r>
            <a:endParaRPr lang="en-US" sz="24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F1581C2-C57A-97DB-0378-9265B5C49063}"/>
              </a:ext>
            </a:extLst>
          </p:cNvPr>
          <p:cNvGrpSpPr/>
          <p:nvPr/>
        </p:nvGrpSpPr>
        <p:grpSpPr>
          <a:xfrm>
            <a:off x="6035040" y="-1927463"/>
            <a:ext cx="2743200" cy="1645920"/>
            <a:chOff x="6035040" y="1188720"/>
            <a:chExt cx="2743200" cy="1645920"/>
          </a:xfrm>
        </p:grpSpPr>
        <p:sp>
          <p:nvSpPr>
            <p:cNvPr id="43" name="Shape 7">
              <a:extLst>
                <a:ext uri="{FF2B5EF4-FFF2-40B4-BE49-F238E27FC236}">
                  <a16:creationId xmlns:a16="http://schemas.microsoft.com/office/drawing/2014/main" id="{D84E65DD-0767-175E-3564-C6336319DCE4}"/>
                </a:ext>
              </a:extLst>
            </p:cNvPr>
            <p:cNvSpPr/>
            <p:nvPr/>
          </p:nvSpPr>
          <p:spPr>
            <a:xfrm>
              <a:off x="6035040" y="1188720"/>
              <a:ext cx="2743200" cy="1645920"/>
            </a:xfrm>
            <a:prstGeom prst="rect">
              <a:avLst/>
            </a:prstGeom>
            <a:solidFill>
              <a:srgbClr val="1E2761"/>
            </a:solidFill>
            <a:ln/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33B01BE4-EE79-1AB7-820A-4C87E3D6EF04}"/>
                </a:ext>
              </a:extLst>
            </p:cNvPr>
            <p:cNvSpPr/>
            <p:nvPr/>
          </p:nvSpPr>
          <p:spPr>
            <a:xfrm>
              <a:off x="6035040" y="1371600"/>
              <a:ext cx="27432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 sur 3</a:t>
              </a:r>
              <a:endParaRPr lang="en-US" sz="3600" dirty="0"/>
            </a:p>
          </p:txBody>
        </p:sp>
        <p:sp>
          <p:nvSpPr>
            <p:cNvPr id="45" name="Text 9">
              <a:extLst>
                <a:ext uri="{FF2B5EF4-FFF2-40B4-BE49-F238E27FC236}">
                  <a16:creationId xmlns:a16="http://schemas.microsoft.com/office/drawing/2014/main" id="{86687C33-E37D-FF1B-BCAE-702DC6F6A330}"/>
                </a:ext>
              </a:extLst>
            </p:cNvPr>
            <p:cNvSpPr/>
            <p:nvPr/>
          </p:nvSpPr>
          <p:spPr>
            <a:xfrm>
              <a:off x="6035040" y="2084832"/>
              <a:ext cx="2743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élèves est victime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 harcèlement scolaire</a:t>
              </a:r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78BC340-9AEE-9E3E-6683-73132562310C}"/>
              </a:ext>
            </a:extLst>
          </p:cNvPr>
          <p:cNvGrpSpPr/>
          <p:nvPr/>
        </p:nvGrpSpPr>
        <p:grpSpPr>
          <a:xfrm>
            <a:off x="6035040" y="6039855"/>
            <a:ext cx="2743200" cy="1645920"/>
            <a:chOff x="6035040" y="3200400"/>
            <a:chExt cx="2743200" cy="164592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30B01609-72E1-BBF4-8465-60C894C11DF5}"/>
                </a:ext>
              </a:extLst>
            </p:cNvPr>
            <p:cNvSpPr/>
            <p:nvPr/>
          </p:nvSpPr>
          <p:spPr>
            <a:xfrm>
              <a:off x="6035040" y="3200400"/>
              <a:ext cx="2743200" cy="1645920"/>
            </a:xfrm>
            <a:prstGeom prst="rect">
              <a:avLst/>
            </a:prstGeom>
            <a:solidFill>
              <a:srgbClr val="990011"/>
            </a:solidFill>
            <a:ln/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48" name="Text 11">
              <a:extLst>
                <a:ext uri="{FF2B5EF4-FFF2-40B4-BE49-F238E27FC236}">
                  <a16:creationId xmlns:a16="http://schemas.microsoft.com/office/drawing/2014/main" id="{E95BF8B1-946E-3682-BEBE-B0C0D2DEFDA2}"/>
                </a:ext>
              </a:extLst>
            </p:cNvPr>
            <p:cNvSpPr/>
            <p:nvPr/>
          </p:nvSpPr>
          <p:spPr>
            <a:xfrm>
              <a:off x="6035040" y="3383280"/>
              <a:ext cx="27432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40%</a:t>
              </a:r>
              <a:endParaRPr lang="en-US" sz="3600" dirty="0"/>
            </a:p>
          </p:txBody>
        </p:sp>
        <p:sp>
          <p:nvSpPr>
            <p:cNvPr id="49" name="Text 12">
              <a:extLst>
                <a:ext uri="{FF2B5EF4-FFF2-40B4-BE49-F238E27FC236}">
                  <a16:creationId xmlns:a16="http://schemas.microsoft.com/office/drawing/2014/main" id="{94B1959B-301E-D774-13B5-8BCBF958BBAD}"/>
                </a:ext>
              </a:extLst>
            </p:cNvPr>
            <p:cNvSpPr/>
            <p:nvPr/>
          </p:nvSpPr>
          <p:spPr>
            <a:xfrm>
              <a:off x="6035040" y="4096512"/>
              <a:ext cx="2743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 cas ne sont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jamais signalés</a:t>
              </a:r>
              <a:endParaRPr lang="en-US" sz="1100" dirty="0"/>
            </a:p>
          </p:txBody>
        </p:sp>
      </p:grpSp>
      <p:sp>
        <p:nvSpPr>
          <p:cNvPr id="53" name="Shape 0">
            <a:extLst>
              <a:ext uri="{FF2B5EF4-FFF2-40B4-BE49-F238E27FC236}">
                <a16:creationId xmlns:a16="http://schemas.microsoft.com/office/drawing/2014/main" id="{55024BD8-C4E3-8312-D421-47C48A8276EC}"/>
              </a:ext>
            </a:extLst>
          </p:cNvPr>
          <p:cNvSpPr/>
          <p:nvPr/>
        </p:nvSpPr>
        <p:spPr>
          <a:xfrm>
            <a:off x="-324858" y="12022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92F8144-A9D2-ADD5-66E2-82DF7146E6AE}"/>
              </a:ext>
            </a:extLst>
          </p:cNvPr>
          <p:cNvGrpSpPr/>
          <p:nvPr/>
        </p:nvGrpSpPr>
        <p:grpSpPr>
          <a:xfrm>
            <a:off x="457200" y="-2935711"/>
            <a:ext cx="8229600" cy="2834640"/>
            <a:chOff x="457200" y="914400"/>
            <a:chExt cx="8229600" cy="2834640"/>
          </a:xfrm>
        </p:grpSpPr>
        <p:sp>
          <p:nvSpPr>
            <p:cNvPr id="55" name="Text 2">
              <a:extLst>
                <a:ext uri="{FF2B5EF4-FFF2-40B4-BE49-F238E27FC236}">
                  <a16:creationId xmlns:a16="http://schemas.microsoft.com/office/drawing/2014/main" id="{60AFFB77-4A28-A0B6-6AFD-7EB8B99EA1D9}"/>
                </a:ext>
              </a:extLst>
            </p:cNvPr>
            <p:cNvSpPr/>
            <p:nvPr/>
          </p:nvSpPr>
          <p:spPr>
            <a:xfrm>
              <a:off x="457200" y="914400"/>
              <a:ext cx="8229600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LA VIOLENCE</a:t>
              </a:r>
              <a:endParaRPr lang="en-US" sz="5200" dirty="0"/>
            </a:p>
            <a:p>
              <a:pPr marL="0" indent="0" algn="l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SCOLAIRE</a:t>
              </a:r>
              <a:endParaRPr lang="en-US" sz="5200" dirty="0"/>
            </a:p>
          </p:txBody>
        </p:sp>
        <p:sp>
          <p:nvSpPr>
            <p:cNvPr id="56" name="Text 3">
              <a:extLst>
                <a:ext uri="{FF2B5EF4-FFF2-40B4-BE49-F238E27FC236}">
                  <a16:creationId xmlns:a16="http://schemas.microsoft.com/office/drawing/2014/main" id="{9182E398-B877-A6D8-E972-081558DDBEA9}"/>
                </a:ext>
              </a:extLst>
            </p:cNvPr>
            <p:cNvSpPr/>
            <p:nvPr/>
          </p:nvSpPr>
          <p:spPr>
            <a:xfrm>
              <a:off x="457200" y="3200400"/>
              <a:ext cx="5486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Causes, Conséquences &amp; Solutions</a:t>
              </a:r>
              <a:endParaRPr lang="en-US" sz="180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00C3D2B-1084-3F7A-205C-FB5644A8EFC8}"/>
              </a:ext>
            </a:extLst>
          </p:cNvPr>
          <p:cNvGrpSpPr/>
          <p:nvPr/>
        </p:nvGrpSpPr>
        <p:grpSpPr>
          <a:xfrm>
            <a:off x="9252292" y="3474720"/>
            <a:ext cx="3200400" cy="1668780"/>
            <a:chOff x="5943600" y="3474720"/>
            <a:chExt cx="3200400" cy="1668780"/>
          </a:xfrm>
        </p:grpSpPr>
        <p:sp>
          <p:nvSpPr>
            <p:cNvPr id="58" name="Shape 1">
              <a:extLst>
                <a:ext uri="{FF2B5EF4-FFF2-40B4-BE49-F238E27FC236}">
                  <a16:creationId xmlns:a16="http://schemas.microsoft.com/office/drawing/2014/main" id="{1EE92871-93CE-BA96-CC9E-3E42250526DA}"/>
                </a:ext>
              </a:extLst>
            </p:cNvPr>
            <p:cNvSpPr/>
            <p:nvPr/>
          </p:nvSpPr>
          <p:spPr>
            <a:xfrm>
              <a:off x="5943600" y="3474720"/>
              <a:ext cx="3200400" cy="1668780"/>
            </a:xfrm>
            <a:prstGeom prst="rect">
              <a:avLst/>
            </a:prstGeom>
            <a:solidFill>
              <a:srgbClr val="14213D"/>
            </a:solidFill>
            <a:ln w="12700">
              <a:solidFill>
                <a:srgbClr val="14213D"/>
              </a:solidFill>
              <a:prstDash val="solid"/>
            </a:ln>
          </p:spPr>
        </p:sp>
        <p:sp>
          <p:nvSpPr>
            <p:cNvPr id="59" name="Text 4">
              <a:extLst>
                <a:ext uri="{FF2B5EF4-FFF2-40B4-BE49-F238E27FC236}">
                  <a16:creationId xmlns:a16="http://schemas.microsoft.com/office/drawing/2014/main" id="{84389D4F-38AE-1F13-BF0A-92993BA1965A}"/>
                </a:ext>
              </a:extLst>
            </p:cNvPr>
            <p:cNvSpPr/>
            <p:nvPr/>
          </p:nvSpPr>
          <p:spPr>
            <a:xfrm>
              <a:off x="6035040" y="3566160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3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Exposé scolaire</a:t>
              </a:r>
              <a:endParaRPr 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84099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F17D2CCA-F03A-A447-7F41-206EE7F2A08E}"/>
              </a:ext>
            </a:extLst>
          </p:cNvPr>
          <p:cNvGrpSpPr/>
          <p:nvPr/>
        </p:nvGrpSpPr>
        <p:grpSpPr>
          <a:xfrm>
            <a:off x="-2841861" y="1143000"/>
            <a:ext cx="2651760" cy="1554480"/>
            <a:chOff x="274320" y="1143000"/>
            <a:chExt cx="2651760" cy="1554480"/>
          </a:xfrm>
        </p:grpSpPr>
        <p:sp>
          <p:nvSpPr>
            <p:cNvPr id="43" name="Shape 2">
              <a:extLst>
                <a:ext uri="{FF2B5EF4-FFF2-40B4-BE49-F238E27FC236}">
                  <a16:creationId xmlns:a16="http://schemas.microsoft.com/office/drawing/2014/main" id="{71B803C1-45B1-B433-1072-CE824ACF40F0}"/>
                </a:ext>
              </a:extLst>
            </p:cNvPr>
            <p:cNvSpPr/>
            <p:nvPr/>
          </p:nvSpPr>
          <p:spPr>
            <a:xfrm>
              <a:off x="274320" y="114300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4" name="Shape 3">
              <a:extLst>
                <a:ext uri="{FF2B5EF4-FFF2-40B4-BE49-F238E27FC236}">
                  <a16:creationId xmlns:a16="http://schemas.microsoft.com/office/drawing/2014/main" id="{25C07FDF-A327-10D7-AB45-FB881E8A4527}"/>
                </a:ext>
              </a:extLst>
            </p:cNvPr>
            <p:cNvSpPr/>
            <p:nvPr/>
          </p:nvSpPr>
          <p:spPr>
            <a:xfrm>
              <a:off x="274320" y="114300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45" name="Text 4">
              <a:extLst>
                <a:ext uri="{FF2B5EF4-FFF2-40B4-BE49-F238E27FC236}">
                  <a16:creationId xmlns:a16="http://schemas.microsoft.com/office/drawing/2014/main" id="{9E024988-24C5-9732-EF53-FE783325CF42}"/>
                </a:ext>
              </a:extLst>
            </p:cNvPr>
            <p:cNvSpPr/>
            <p:nvPr/>
          </p:nvSpPr>
          <p:spPr>
            <a:xfrm>
              <a:off x="411480" y="128016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01</a:t>
              </a:r>
              <a:endParaRPr lang="en-US" sz="2200" dirty="0"/>
            </a:p>
          </p:txBody>
        </p:sp>
        <p:sp>
          <p:nvSpPr>
            <p:cNvPr id="46" name="Text 5">
              <a:extLst>
                <a:ext uri="{FF2B5EF4-FFF2-40B4-BE49-F238E27FC236}">
                  <a16:creationId xmlns:a16="http://schemas.microsoft.com/office/drawing/2014/main" id="{CFC1F656-4AE6-F257-4DF1-C2F372BAB43D}"/>
                </a:ext>
              </a:extLst>
            </p:cNvPr>
            <p:cNvSpPr/>
            <p:nvPr/>
          </p:nvSpPr>
          <p:spPr>
            <a:xfrm>
              <a:off x="411480" y="167335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Définition</a:t>
              </a:r>
              <a:endParaRPr lang="en-US" sz="1400" dirty="0"/>
            </a:p>
          </p:txBody>
        </p:sp>
        <p:sp>
          <p:nvSpPr>
            <p:cNvPr id="47" name="Text 6">
              <a:extLst>
                <a:ext uri="{FF2B5EF4-FFF2-40B4-BE49-F238E27FC236}">
                  <a16:creationId xmlns:a16="http://schemas.microsoft.com/office/drawing/2014/main" id="{6E100148-27ED-EA8F-4737-877C5E30B9CA}"/>
                </a:ext>
              </a:extLst>
            </p:cNvPr>
            <p:cNvSpPr/>
            <p:nvPr/>
          </p:nvSpPr>
          <p:spPr>
            <a:xfrm>
              <a:off x="411480" y="203911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Qu'est-ce que la violence scolaire ?</a:t>
              </a:r>
              <a:endParaRPr lang="en-US" sz="1000" dirty="0"/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DÉFINITION</a:t>
            </a:r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99300D0-BBF0-9AC8-84AA-E749BC257D62}"/>
              </a:ext>
            </a:extLst>
          </p:cNvPr>
          <p:cNvGrpSpPr/>
          <p:nvPr/>
        </p:nvGrpSpPr>
        <p:grpSpPr>
          <a:xfrm>
            <a:off x="365760" y="1097280"/>
            <a:ext cx="5303520" cy="3474720"/>
            <a:chOff x="365760" y="1097280"/>
            <a:chExt cx="5303520" cy="3474720"/>
          </a:xfrm>
        </p:grpSpPr>
        <p:sp>
          <p:nvSpPr>
            <p:cNvPr id="4" name="Shape 2"/>
            <p:cNvSpPr/>
            <p:nvPr/>
          </p:nvSpPr>
          <p:spPr>
            <a:xfrm>
              <a:off x="365760" y="1097280"/>
              <a:ext cx="5303520" cy="3474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365760" y="1097280"/>
              <a:ext cx="91440" cy="347472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94360" y="1280160"/>
              <a:ext cx="4937760" cy="1828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violence scolaire désigne tout acte d'agression physique, verbale ou psychologique survenant dans le milieu scolaire — entre élèves, ou envers le personnel enseignant.</a:t>
              </a:r>
              <a:endParaRPr lang="en-US" sz="15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" y="2971800"/>
              <a:ext cx="4937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Elle peut prendre plusieurs formes :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94360" y="3337560"/>
              <a:ext cx="493776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30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Violence physique</a:t>
              </a:r>
              <a:endParaRPr lang="en-US" sz="1300" dirty="0"/>
            </a:p>
            <a:p>
              <a:pPr marL="342900" indent="-342900">
                <a:buSzPct val="100000"/>
                <a:buChar char="•"/>
              </a:pPr>
              <a:r>
                <a:rPr lang="en-US" sz="13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Violence verbale &amp; cyberharcèlement</a:t>
              </a:r>
              <a:endParaRPr lang="en-US" sz="1300" dirty="0"/>
            </a:p>
            <a:p>
              <a:pPr marL="342900" indent="-342900">
                <a:buSzPct val="100000"/>
                <a:buChar char="•"/>
              </a:pPr>
              <a:r>
                <a:rPr lang="en-US" sz="13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Violence psychologique &amp; exclusion</a:t>
              </a:r>
              <a:endParaRPr lang="en-US" sz="13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8DAB0C-27C7-5962-76BE-2C11B438EF67}"/>
              </a:ext>
            </a:extLst>
          </p:cNvPr>
          <p:cNvGrpSpPr/>
          <p:nvPr/>
        </p:nvGrpSpPr>
        <p:grpSpPr>
          <a:xfrm>
            <a:off x="6035040" y="1188720"/>
            <a:ext cx="2743200" cy="1645920"/>
            <a:chOff x="6035040" y="1188720"/>
            <a:chExt cx="2743200" cy="1645920"/>
          </a:xfrm>
        </p:grpSpPr>
        <p:sp>
          <p:nvSpPr>
            <p:cNvPr id="9" name="Shape 7"/>
            <p:cNvSpPr/>
            <p:nvPr/>
          </p:nvSpPr>
          <p:spPr>
            <a:xfrm>
              <a:off x="6035040" y="1188720"/>
              <a:ext cx="2743200" cy="1645920"/>
            </a:xfrm>
            <a:prstGeom prst="rect">
              <a:avLst/>
            </a:prstGeom>
            <a:solidFill>
              <a:srgbClr val="1E2761"/>
            </a:solidFill>
            <a:ln/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6035040" y="1371600"/>
              <a:ext cx="27432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 sur 3</a:t>
              </a:r>
              <a:endParaRPr lang="en-US" sz="3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035040" y="2084832"/>
              <a:ext cx="2743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élèves est victime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 harcèlement scolaire</a:t>
              </a:r>
              <a:endParaRPr lang="en-US" sz="11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84A3DC-BDDE-151A-6B3E-2C6A8D08F2D4}"/>
              </a:ext>
            </a:extLst>
          </p:cNvPr>
          <p:cNvGrpSpPr/>
          <p:nvPr/>
        </p:nvGrpSpPr>
        <p:grpSpPr>
          <a:xfrm>
            <a:off x="6035040" y="3200400"/>
            <a:ext cx="2743200" cy="1645920"/>
            <a:chOff x="6035040" y="3200400"/>
            <a:chExt cx="2743200" cy="1645920"/>
          </a:xfrm>
        </p:grpSpPr>
        <p:sp>
          <p:nvSpPr>
            <p:cNvPr id="12" name="Shape 10"/>
            <p:cNvSpPr/>
            <p:nvPr/>
          </p:nvSpPr>
          <p:spPr>
            <a:xfrm>
              <a:off x="6035040" y="3200400"/>
              <a:ext cx="2743200" cy="1645920"/>
            </a:xfrm>
            <a:prstGeom prst="rect">
              <a:avLst/>
            </a:prstGeom>
            <a:solidFill>
              <a:srgbClr val="990011"/>
            </a:solidFill>
            <a:ln/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6035040" y="3383280"/>
              <a:ext cx="27432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40%</a:t>
              </a:r>
              <a:endParaRPr lang="en-US" sz="3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035040" y="4096512"/>
              <a:ext cx="2743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 cas ne sont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jamais signalés</a:t>
              </a:r>
              <a:endParaRPr lang="en-US" sz="11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72080E-E39C-5D98-29C4-28258BC4F83A}"/>
              </a:ext>
            </a:extLst>
          </p:cNvPr>
          <p:cNvGrpSpPr/>
          <p:nvPr/>
        </p:nvGrpSpPr>
        <p:grpSpPr>
          <a:xfrm>
            <a:off x="1508760" y="5455123"/>
            <a:ext cx="2651760" cy="1554480"/>
            <a:chOff x="1508760" y="3108960"/>
            <a:chExt cx="2651760" cy="1554480"/>
          </a:xfrm>
        </p:grpSpPr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219DF113-BE02-9961-6D6A-31A2924340F4}"/>
                </a:ext>
              </a:extLst>
            </p:cNvPr>
            <p:cNvSpPr/>
            <p:nvPr/>
          </p:nvSpPr>
          <p:spPr>
            <a:xfrm>
              <a:off x="1508760" y="310896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772601E1-A258-A8D7-60C1-67F642E0C9EC}"/>
                </a:ext>
              </a:extLst>
            </p:cNvPr>
            <p:cNvSpPr/>
            <p:nvPr/>
          </p:nvSpPr>
          <p:spPr>
            <a:xfrm>
              <a:off x="1508760" y="310896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B41AD08E-B516-462F-D412-F996198713FB}"/>
                </a:ext>
              </a:extLst>
            </p:cNvPr>
            <p:cNvSpPr/>
            <p:nvPr/>
          </p:nvSpPr>
          <p:spPr>
            <a:xfrm>
              <a:off x="1645920" y="324612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04</a:t>
              </a:r>
              <a:endParaRPr lang="en-US" sz="22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C1634E6E-8E14-C19D-238A-AFBEF11996D5}"/>
                </a:ext>
              </a:extLst>
            </p:cNvPr>
            <p:cNvSpPr/>
            <p:nvPr/>
          </p:nvSpPr>
          <p:spPr>
            <a:xfrm>
              <a:off x="1645920" y="363931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Solutions</a:t>
              </a:r>
              <a:endParaRPr lang="en-US" sz="14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0C39CC7B-20E1-4255-6245-678D214856E1}"/>
                </a:ext>
              </a:extLst>
            </p:cNvPr>
            <p:cNvSpPr/>
            <p:nvPr/>
          </p:nvSpPr>
          <p:spPr>
            <a:xfrm>
              <a:off x="1645920" y="400507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mesures pratiques et politiques à adopter</a:t>
              </a:r>
              <a:endParaRPr lang="en-US" sz="10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344B059-E066-5031-BB9C-16F889E5ABAA}"/>
              </a:ext>
            </a:extLst>
          </p:cNvPr>
          <p:cNvGrpSpPr/>
          <p:nvPr/>
        </p:nvGrpSpPr>
        <p:grpSpPr>
          <a:xfrm>
            <a:off x="4389120" y="5479181"/>
            <a:ext cx="2651760" cy="1554480"/>
            <a:chOff x="4389120" y="3108960"/>
            <a:chExt cx="2651760" cy="1554480"/>
          </a:xfrm>
        </p:grpSpPr>
        <p:sp>
          <p:nvSpPr>
            <p:cNvPr id="25" name="Shape 22">
              <a:extLst>
                <a:ext uri="{FF2B5EF4-FFF2-40B4-BE49-F238E27FC236}">
                  <a16:creationId xmlns:a16="http://schemas.microsoft.com/office/drawing/2014/main" id="{2C8C1E09-33A5-1EDF-F3FE-7E6B75ED3B2F}"/>
                </a:ext>
              </a:extLst>
            </p:cNvPr>
            <p:cNvSpPr/>
            <p:nvPr/>
          </p:nvSpPr>
          <p:spPr>
            <a:xfrm>
              <a:off x="4389120" y="310896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6" name="Shape 23">
              <a:extLst>
                <a:ext uri="{FF2B5EF4-FFF2-40B4-BE49-F238E27FC236}">
                  <a16:creationId xmlns:a16="http://schemas.microsoft.com/office/drawing/2014/main" id="{38B78319-9211-1DA5-2FCF-A472B21FE373}"/>
                </a:ext>
              </a:extLst>
            </p:cNvPr>
            <p:cNvSpPr/>
            <p:nvPr/>
          </p:nvSpPr>
          <p:spPr>
            <a:xfrm>
              <a:off x="4389120" y="310896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3AC07F1F-3BF4-7A2B-CCC2-B092879BBE1F}"/>
                </a:ext>
              </a:extLst>
            </p:cNvPr>
            <p:cNvSpPr/>
            <p:nvPr/>
          </p:nvSpPr>
          <p:spPr>
            <a:xfrm>
              <a:off x="4526280" y="324612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05</a:t>
              </a:r>
              <a:endParaRPr lang="en-US" sz="2200" dirty="0"/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18DF6AA5-8565-B097-7B67-CA98EE4E8536}"/>
                </a:ext>
              </a:extLst>
            </p:cNvPr>
            <p:cNvSpPr/>
            <p:nvPr/>
          </p:nvSpPr>
          <p:spPr>
            <a:xfrm>
              <a:off x="4526280" y="363931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Avis Personnel</a:t>
              </a:r>
              <a:endParaRPr lang="en-US" sz="1400" dirty="0"/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05EEA5F6-3550-8F00-61D0-91B2F0EFBC66}"/>
                </a:ext>
              </a:extLst>
            </p:cNvPr>
            <p:cNvSpPr/>
            <p:nvPr/>
          </p:nvSpPr>
          <p:spPr>
            <a:xfrm>
              <a:off x="4526280" y="400507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Notre point de vue et conclusion</a:t>
              </a:r>
              <a:endParaRPr lang="en-US" sz="10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38D2DD3-FD7C-0D6B-BE5F-00BF749F2F04}"/>
              </a:ext>
            </a:extLst>
          </p:cNvPr>
          <p:cNvGrpSpPr/>
          <p:nvPr/>
        </p:nvGrpSpPr>
        <p:grpSpPr>
          <a:xfrm>
            <a:off x="9355761" y="1143000"/>
            <a:ext cx="2651760" cy="1554480"/>
            <a:chOff x="6035040" y="1143000"/>
            <a:chExt cx="2651760" cy="1554480"/>
          </a:xfrm>
        </p:grpSpPr>
        <p:sp>
          <p:nvSpPr>
            <p:cNvPr id="31" name="Shape 12">
              <a:extLst>
                <a:ext uri="{FF2B5EF4-FFF2-40B4-BE49-F238E27FC236}">
                  <a16:creationId xmlns:a16="http://schemas.microsoft.com/office/drawing/2014/main" id="{D4B3D72C-9648-AADB-3A33-57F41C00887F}"/>
                </a:ext>
              </a:extLst>
            </p:cNvPr>
            <p:cNvSpPr/>
            <p:nvPr/>
          </p:nvSpPr>
          <p:spPr>
            <a:xfrm>
              <a:off x="6035040" y="114300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2" name="Shape 13">
              <a:extLst>
                <a:ext uri="{FF2B5EF4-FFF2-40B4-BE49-F238E27FC236}">
                  <a16:creationId xmlns:a16="http://schemas.microsoft.com/office/drawing/2014/main" id="{215BBCDB-141A-2A05-9D3A-48205D397052}"/>
                </a:ext>
              </a:extLst>
            </p:cNvPr>
            <p:cNvSpPr/>
            <p:nvPr/>
          </p:nvSpPr>
          <p:spPr>
            <a:xfrm>
              <a:off x="6035040" y="114300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7C236DFF-FDD0-EBCB-7636-C917E55865FC}"/>
                </a:ext>
              </a:extLst>
            </p:cNvPr>
            <p:cNvSpPr/>
            <p:nvPr/>
          </p:nvSpPr>
          <p:spPr>
            <a:xfrm>
              <a:off x="6172200" y="128016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03</a:t>
              </a:r>
              <a:endParaRPr lang="en-US" sz="2200" dirty="0"/>
            </a:p>
          </p:txBody>
        </p:sp>
        <p:sp>
          <p:nvSpPr>
            <p:cNvPr id="34" name="Text 15">
              <a:extLst>
                <a:ext uri="{FF2B5EF4-FFF2-40B4-BE49-F238E27FC236}">
                  <a16:creationId xmlns:a16="http://schemas.microsoft.com/office/drawing/2014/main" id="{6D00DAF6-C34B-5DA3-47D6-6184BCA814E7}"/>
                </a:ext>
              </a:extLst>
            </p:cNvPr>
            <p:cNvSpPr/>
            <p:nvPr/>
          </p:nvSpPr>
          <p:spPr>
            <a:xfrm>
              <a:off x="6172200" y="167335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Conséquences</a:t>
              </a:r>
              <a:endParaRPr lang="en-US" sz="1400" dirty="0"/>
            </a:p>
          </p:txBody>
        </p:sp>
        <p:sp>
          <p:nvSpPr>
            <p:cNvPr id="35" name="Text 16">
              <a:extLst>
                <a:ext uri="{FF2B5EF4-FFF2-40B4-BE49-F238E27FC236}">
                  <a16:creationId xmlns:a16="http://schemas.microsoft.com/office/drawing/2014/main" id="{86D1F531-4FD3-569E-E042-2CE6AB77612D}"/>
                </a:ext>
              </a:extLst>
            </p:cNvPr>
            <p:cNvSpPr/>
            <p:nvPr/>
          </p:nvSpPr>
          <p:spPr>
            <a:xfrm>
              <a:off x="6172200" y="203911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impacts sur les élèves, les familles et l'école</a:t>
              </a:r>
              <a:endParaRPr lang="en-US" sz="10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53823CD-59CB-2C16-6B5D-F4FF8EE9913B}"/>
              </a:ext>
            </a:extLst>
          </p:cNvPr>
          <p:cNvGrpSpPr/>
          <p:nvPr/>
        </p:nvGrpSpPr>
        <p:grpSpPr>
          <a:xfrm>
            <a:off x="-2812993" y="1143000"/>
            <a:ext cx="2651760" cy="1554480"/>
            <a:chOff x="3154680" y="1143000"/>
            <a:chExt cx="2651760" cy="1554480"/>
          </a:xfrm>
        </p:grpSpPr>
        <p:sp>
          <p:nvSpPr>
            <p:cNvPr id="37" name="Shape 7">
              <a:extLst>
                <a:ext uri="{FF2B5EF4-FFF2-40B4-BE49-F238E27FC236}">
                  <a16:creationId xmlns:a16="http://schemas.microsoft.com/office/drawing/2014/main" id="{AB7C2C96-1830-9BE2-B145-6FB13719E7B6}"/>
                </a:ext>
              </a:extLst>
            </p:cNvPr>
            <p:cNvSpPr/>
            <p:nvPr/>
          </p:nvSpPr>
          <p:spPr>
            <a:xfrm>
              <a:off x="3154680" y="1143000"/>
              <a:ext cx="2651760" cy="15544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8" name="Shape 8">
              <a:extLst>
                <a:ext uri="{FF2B5EF4-FFF2-40B4-BE49-F238E27FC236}">
                  <a16:creationId xmlns:a16="http://schemas.microsoft.com/office/drawing/2014/main" id="{FFDB138D-DCFF-B04F-C159-F3FED0C5B843}"/>
                </a:ext>
              </a:extLst>
            </p:cNvPr>
            <p:cNvSpPr/>
            <p:nvPr/>
          </p:nvSpPr>
          <p:spPr>
            <a:xfrm>
              <a:off x="3154680" y="1143000"/>
              <a:ext cx="73152" cy="155448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39" name="Text 9">
              <a:extLst>
                <a:ext uri="{FF2B5EF4-FFF2-40B4-BE49-F238E27FC236}">
                  <a16:creationId xmlns:a16="http://schemas.microsoft.com/office/drawing/2014/main" id="{1B881228-35A6-2892-4435-234D9F83FA01}"/>
                </a:ext>
              </a:extLst>
            </p:cNvPr>
            <p:cNvSpPr/>
            <p:nvPr/>
          </p:nvSpPr>
          <p:spPr>
            <a:xfrm>
              <a:off x="3291840" y="1280160"/>
              <a:ext cx="640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99001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02</a:t>
              </a:r>
              <a:endParaRPr lang="en-US" sz="2200" dirty="0"/>
            </a:p>
          </p:txBody>
        </p:sp>
        <p:sp>
          <p:nvSpPr>
            <p:cNvPr id="40" name="Text 10">
              <a:extLst>
                <a:ext uri="{FF2B5EF4-FFF2-40B4-BE49-F238E27FC236}">
                  <a16:creationId xmlns:a16="http://schemas.microsoft.com/office/drawing/2014/main" id="{462C9187-C7E4-8B1D-532E-8323AB04FE3C}"/>
                </a:ext>
              </a:extLst>
            </p:cNvPr>
            <p:cNvSpPr/>
            <p:nvPr/>
          </p:nvSpPr>
          <p:spPr>
            <a:xfrm>
              <a:off x="3291840" y="1673352"/>
              <a:ext cx="2468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Causes</a:t>
              </a:r>
              <a:endParaRPr lang="en-US" sz="1400" dirty="0"/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0E1DA1B2-87CA-9549-5F51-86A399406415}"/>
                </a:ext>
              </a:extLst>
            </p:cNvPr>
            <p:cNvSpPr/>
            <p:nvPr/>
          </p:nvSpPr>
          <p:spPr>
            <a:xfrm>
              <a:off x="3291840" y="2039112"/>
              <a:ext cx="24688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facteurs qui mènent à la violence en milieu scolaire</a:t>
              </a:r>
              <a:endParaRPr lang="en-US" sz="10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BCD2239-A49A-BFB4-3771-A0B9B11A76C3}"/>
              </a:ext>
            </a:extLst>
          </p:cNvPr>
          <p:cNvGrpSpPr/>
          <p:nvPr/>
        </p:nvGrpSpPr>
        <p:grpSpPr>
          <a:xfrm>
            <a:off x="274320" y="5452717"/>
            <a:ext cx="8595360" cy="1188720"/>
            <a:chOff x="274320" y="1097280"/>
            <a:chExt cx="8595360" cy="1188720"/>
          </a:xfrm>
        </p:grpSpPr>
        <p:sp>
          <p:nvSpPr>
            <p:cNvPr id="49" name="Shape 2">
              <a:extLst>
                <a:ext uri="{FF2B5EF4-FFF2-40B4-BE49-F238E27FC236}">
                  <a16:creationId xmlns:a16="http://schemas.microsoft.com/office/drawing/2014/main" id="{BD06E3BB-C14E-A427-38C5-B313697B5B96}"/>
                </a:ext>
              </a:extLst>
            </p:cNvPr>
            <p:cNvSpPr/>
            <p:nvPr/>
          </p:nvSpPr>
          <p:spPr>
            <a:xfrm>
              <a:off x="274320" y="109728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0" name="Shape 3">
              <a:extLst>
                <a:ext uri="{FF2B5EF4-FFF2-40B4-BE49-F238E27FC236}">
                  <a16:creationId xmlns:a16="http://schemas.microsoft.com/office/drawing/2014/main" id="{08C90AF5-6EA3-55CC-DA56-56886C5CEBBC}"/>
                </a:ext>
              </a:extLst>
            </p:cNvPr>
            <p:cNvSpPr/>
            <p:nvPr/>
          </p:nvSpPr>
          <p:spPr>
            <a:xfrm>
              <a:off x="384048" y="144475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51" name="Text 4">
              <a:extLst>
                <a:ext uri="{FF2B5EF4-FFF2-40B4-BE49-F238E27FC236}">
                  <a16:creationId xmlns:a16="http://schemas.microsoft.com/office/drawing/2014/main" id="{1642FF41-A9E4-27A4-924F-1A1785AF082E}"/>
                </a:ext>
              </a:extLst>
            </p:cNvPr>
            <p:cNvSpPr/>
            <p:nvPr/>
          </p:nvSpPr>
          <p:spPr>
            <a:xfrm>
              <a:off x="777240" y="118872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Stress des examens</a:t>
              </a:r>
              <a:endParaRPr lang="en-US" sz="1300" dirty="0"/>
            </a:p>
          </p:txBody>
        </p:sp>
        <p:sp>
          <p:nvSpPr>
            <p:cNvPr id="52" name="Text 5">
              <a:extLst>
                <a:ext uri="{FF2B5EF4-FFF2-40B4-BE49-F238E27FC236}">
                  <a16:creationId xmlns:a16="http://schemas.microsoft.com/office/drawing/2014/main" id="{8153AB15-2278-BD61-E409-2774FF08D324}"/>
                </a:ext>
              </a:extLst>
            </p:cNvPr>
            <p:cNvSpPr/>
            <p:nvPr/>
          </p:nvSpPr>
          <p:spPr>
            <a:xfrm>
              <a:off x="777240" y="155448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pression académique excessive génère anxiété et comportements agressifs.</a:t>
              </a:r>
              <a:endParaRPr lang="en-US" sz="1050" dirty="0"/>
            </a:p>
          </p:txBody>
        </p:sp>
        <p:sp>
          <p:nvSpPr>
            <p:cNvPr id="53" name="Shape 6">
              <a:extLst>
                <a:ext uri="{FF2B5EF4-FFF2-40B4-BE49-F238E27FC236}">
                  <a16:creationId xmlns:a16="http://schemas.microsoft.com/office/drawing/2014/main" id="{801AEEC6-E653-EA26-B433-87117F2EE75D}"/>
                </a:ext>
              </a:extLst>
            </p:cNvPr>
            <p:cNvSpPr/>
            <p:nvPr/>
          </p:nvSpPr>
          <p:spPr>
            <a:xfrm>
              <a:off x="4709160" y="109728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4" name="Shape 7">
              <a:extLst>
                <a:ext uri="{FF2B5EF4-FFF2-40B4-BE49-F238E27FC236}">
                  <a16:creationId xmlns:a16="http://schemas.microsoft.com/office/drawing/2014/main" id="{5AEF8239-BBA1-4394-8522-D4794CF8FAAD}"/>
                </a:ext>
              </a:extLst>
            </p:cNvPr>
            <p:cNvSpPr/>
            <p:nvPr/>
          </p:nvSpPr>
          <p:spPr>
            <a:xfrm>
              <a:off x="4818888" y="144475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55" name="Text 8">
              <a:extLst>
                <a:ext uri="{FF2B5EF4-FFF2-40B4-BE49-F238E27FC236}">
                  <a16:creationId xmlns:a16="http://schemas.microsoft.com/office/drawing/2014/main" id="{CFABA527-C31B-54A4-B373-68222C57BBCF}"/>
                </a:ext>
              </a:extLst>
            </p:cNvPr>
            <p:cNvSpPr/>
            <p:nvPr/>
          </p:nvSpPr>
          <p:spPr>
            <a:xfrm>
              <a:off x="5212080" y="118872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Réseaux sociaux nocifs</a:t>
              </a:r>
              <a:endParaRPr lang="en-US" sz="1300" dirty="0"/>
            </a:p>
          </p:txBody>
        </p:sp>
        <p:sp>
          <p:nvSpPr>
            <p:cNvPr id="56" name="Text 9">
              <a:extLst>
                <a:ext uri="{FF2B5EF4-FFF2-40B4-BE49-F238E27FC236}">
                  <a16:creationId xmlns:a16="http://schemas.microsoft.com/office/drawing/2014/main" id="{AEC72840-774F-5E6E-D08F-273F7AA13F47}"/>
                </a:ext>
              </a:extLst>
            </p:cNvPr>
            <p:cNvSpPr/>
            <p:nvPr/>
          </p:nvSpPr>
          <p:spPr>
            <a:xfrm>
              <a:off x="5212080" y="155448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L'addiction aux réseaux sociaux expose les élèves à la violence en ligne et normalise les comportements agressifs.</a:t>
              </a:r>
              <a:endParaRPr lang="en-US" sz="105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C7A6B87-61E4-A7D9-55DD-F701AD6D5D30}"/>
              </a:ext>
            </a:extLst>
          </p:cNvPr>
          <p:cNvGrpSpPr/>
          <p:nvPr/>
        </p:nvGrpSpPr>
        <p:grpSpPr>
          <a:xfrm>
            <a:off x="274320" y="5431054"/>
            <a:ext cx="8595360" cy="1188720"/>
            <a:chOff x="274320" y="2423160"/>
            <a:chExt cx="8595360" cy="1188720"/>
          </a:xfrm>
        </p:grpSpPr>
        <p:sp>
          <p:nvSpPr>
            <p:cNvPr id="58" name="Shape 10">
              <a:extLst>
                <a:ext uri="{FF2B5EF4-FFF2-40B4-BE49-F238E27FC236}">
                  <a16:creationId xmlns:a16="http://schemas.microsoft.com/office/drawing/2014/main" id="{DE710233-FC90-A6F9-AE7A-8FAFF593B20E}"/>
                </a:ext>
              </a:extLst>
            </p:cNvPr>
            <p:cNvSpPr/>
            <p:nvPr/>
          </p:nvSpPr>
          <p:spPr>
            <a:xfrm>
              <a:off x="274320" y="242316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9" name="Shape 11">
              <a:extLst>
                <a:ext uri="{FF2B5EF4-FFF2-40B4-BE49-F238E27FC236}">
                  <a16:creationId xmlns:a16="http://schemas.microsoft.com/office/drawing/2014/main" id="{1E0C9CAB-BEE8-F386-D20E-374FA03F39C3}"/>
                </a:ext>
              </a:extLst>
            </p:cNvPr>
            <p:cNvSpPr/>
            <p:nvPr/>
          </p:nvSpPr>
          <p:spPr>
            <a:xfrm>
              <a:off x="384048" y="277063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60" name="Text 12">
              <a:extLst>
                <a:ext uri="{FF2B5EF4-FFF2-40B4-BE49-F238E27FC236}">
                  <a16:creationId xmlns:a16="http://schemas.microsoft.com/office/drawing/2014/main" id="{A1E5D055-D2F7-29A5-E963-3016E17934F1}"/>
                </a:ext>
              </a:extLst>
            </p:cNvPr>
            <p:cNvSpPr/>
            <p:nvPr/>
          </p:nvSpPr>
          <p:spPr>
            <a:xfrm>
              <a:off x="777240" y="251460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Mauvaises fréquentations</a:t>
              </a:r>
              <a:endParaRPr lang="en-US" sz="1300" dirty="0"/>
            </a:p>
          </p:txBody>
        </p:sp>
        <p:sp>
          <p:nvSpPr>
            <p:cNvPr id="61" name="Text 13">
              <a:extLst>
                <a:ext uri="{FF2B5EF4-FFF2-40B4-BE49-F238E27FC236}">
                  <a16:creationId xmlns:a16="http://schemas.microsoft.com/office/drawing/2014/main" id="{B0C01B80-9E9F-0C8B-C3BC-AC6E306E1A26}"/>
                </a:ext>
              </a:extLst>
            </p:cNvPr>
            <p:cNvSpPr/>
            <p:nvPr/>
          </p:nvSpPr>
          <p:spPr>
            <a:xfrm>
              <a:off x="777240" y="288036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L'influence de mauvais camarades et la consommation de drogues sont des facteurs majeurs.</a:t>
              </a:r>
              <a:endParaRPr lang="en-US" sz="1050" dirty="0"/>
            </a:p>
          </p:txBody>
        </p:sp>
        <p:sp>
          <p:nvSpPr>
            <p:cNvPr id="62" name="Shape 14">
              <a:extLst>
                <a:ext uri="{FF2B5EF4-FFF2-40B4-BE49-F238E27FC236}">
                  <a16:creationId xmlns:a16="http://schemas.microsoft.com/office/drawing/2014/main" id="{ED803E99-3E7F-7442-AC7F-FAA12C0D6183}"/>
                </a:ext>
              </a:extLst>
            </p:cNvPr>
            <p:cNvSpPr/>
            <p:nvPr/>
          </p:nvSpPr>
          <p:spPr>
            <a:xfrm>
              <a:off x="4709160" y="242316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63" name="Shape 15">
              <a:extLst>
                <a:ext uri="{FF2B5EF4-FFF2-40B4-BE49-F238E27FC236}">
                  <a16:creationId xmlns:a16="http://schemas.microsoft.com/office/drawing/2014/main" id="{4A10016E-F830-87FE-F3F9-6F6A0C85ADAF}"/>
                </a:ext>
              </a:extLst>
            </p:cNvPr>
            <p:cNvSpPr/>
            <p:nvPr/>
          </p:nvSpPr>
          <p:spPr>
            <a:xfrm>
              <a:off x="4818888" y="277063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64" name="Text 16">
              <a:extLst>
                <a:ext uri="{FF2B5EF4-FFF2-40B4-BE49-F238E27FC236}">
                  <a16:creationId xmlns:a16="http://schemas.microsoft.com/office/drawing/2014/main" id="{ABC3E4EF-A2FE-A96D-55B0-AD073A8CC104}"/>
                </a:ext>
              </a:extLst>
            </p:cNvPr>
            <p:cNvSpPr/>
            <p:nvPr/>
          </p:nvSpPr>
          <p:spPr>
            <a:xfrm>
              <a:off x="5212080" y="251460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Environnement familial</a:t>
              </a:r>
              <a:endParaRPr lang="en-US" sz="1300" dirty="0"/>
            </a:p>
          </p:txBody>
        </p:sp>
        <p:sp>
          <p:nvSpPr>
            <p:cNvPr id="65" name="Text 17">
              <a:extLst>
                <a:ext uri="{FF2B5EF4-FFF2-40B4-BE49-F238E27FC236}">
                  <a16:creationId xmlns:a16="http://schemas.microsoft.com/office/drawing/2014/main" id="{4643140B-AD74-6712-AC71-3F7D33A184B1}"/>
                </a:ext>
              </a:extLst>
            </p:cNvPr>
            <p:cNvSpPr/>
            <p:nvPr/>
          </p:nvSpPr>
          <p:spPr>
            <a:xfrm>
              <a:off x="5212080" y="288036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 cadre familial instable ou violent reproduit ces comportements à l'école.</a:t>
              </a:r>
              <a:endParaRPr lang="en-US" sz="105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22F60A7-AF8C-89A3-7721-E351D421AF92}"/>
              </a:ext>
            </a:extLst>
          </p:cNvPr>
          <p:cNvGrpSpPr/>
          <p:nvPr/>
        </p:nvGrpSpPr>
        <p:grpSpPr>
          <a:xfrm>
            <a:off x="274320" y="5409401"/>
            <a:ext cx="8595360" cy="1188720"/>
            <a:chOff x="274320" y="3749040"/>
            <a:chExt cx="8595360" cy="1188720"/>
          </a:xfrm>
        </p:grpSpPr>
        <p:sp>
          <p:nvSpPr>
            <p:cNvPr id="67" name="Shape 18">
              <a:extLst>
                <a:ext uri="{FF2B5EF4-FFF2-40B4-BE49-F238E27FC236}">
                  <a16:creationId xmlns:a16="http://schemas.microsoft.com/office/drawing/2014/main" id="{B127B30B-4FC9-4CAA-4EE5-469A9A7D99D3}"/>
                </a:ext>
              </a:extLst>
            </p:cNvPr>
            <p:cNvSpPr/>
            <p:nvPr/>
          </p:nvSpPr>
          <p:spPr>
            <a:xfrm>
              <a:off x="274320" y="374904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68" name="Shape 19">
              <a:extLst>
                <a:ext uri="{FF2B5EF4-FFF2-40B4-BE49-F238E27FC236}">
                  <a16:creationId xmlns:a16="http://schemas.microsoft.com/office/drawing/2014/main" id="{1A77A19C-EB99-78C3-6231-39AF0D055C93}"/>
                </a:ext>
              </a:extLst>
            </p:cNvPr>
            <p:cNvSpPr/>
            <p:nvPr/>
          </p:nvSpPr>
          <p:spPr>
            <a:xfrm>
              <a:off x="384048" y="409651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69" name="Text 20">
              <a:extLst>
                <a:ext uri="{FF2B5EF4-FFF2-40B4-BE49-F238E27FC236}">
                  <a16:creationId xmlns:a16="http://schemas.microsoft.com/office/drawing/2014/main" id="{4651F2B1-EFC8-FE8F-E263-B3EB14B8D41B}"/>
                </a:ext>
              </a:extLst>
            </p:cNvPr>
            <p:cNvSpPr/>
            <p:nvPr/>
          </p:nvSpPr>
          <p:spPr>
            <a:xfrm>
              <a:off x="777240" y="384048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Inégalités sociales</a:t>
              </a:r>
              <a:endParaRPr lang="en-US" sz="1300" dirty="0"/>
            </a:p>
          </p:txBody>
        </p:sp>
        <p:sp>
          <p:nvSpPr>
            <p:cNvPr id="70" name="Text 21">
              <a:extLst>
                <a:ext uri="{FF2B5EF4-FFF2-40B4-BE49-F238E27FC236}">
                  <a16:creationId xmlns:a16="http://schemas.microsoft.com/office/drawing/2014/main" id="{DE686221-B7B8-D09D-1B66-B9B81E148A5E}"/>
                </a:ext>
              </a:extLst>
            </p:cNvPr>
            <p:cNvSpPr/>
            <p:nvPr/>
          </p:nvSpPr>
          <p:spPr>
            <a:xfrm>
              <a:off x="777240" y="420624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inégalités économiques et sociales créent frustration et tensions entre élèves.</a:t>
              </a:r>
              <a:endParaRPr lang="en-US" sz="1050" dirty="0"/>
            </a:p>
          </p:txBody>
        </p:sp>
        <p:sp>
          <p:nvSpPr>
            <p:cNvPr id="71" name="Shape 22">
              <a:extLst>
                <a:ext uri="{FF2B5EF4-FFF2-40B4-BE49-F238E27FC236}">
                  <a16:creationId xmlns:a16="http://schemas.microsoft.com/office/drawing/2014/main" id="{3F60A2D8-CD4E-0921-B0C0-EF91818E154F}"/>
                </a:ext>
              </a:extLst>
            </p:cNvPr>
            <p:cNvSpPr/>
            <p:nvPr/>
          </p:nvSpPr>
          <p:spPr>
            <a:xfrm>
              <a:off x="4709160" y="374904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72" name="Shape 23">
              <a:extLst>
                <a:ext uri="{FF2B5EF4-FFF2-40B4-BE49-F238E27FC236}">
                  <a16:creationId xmlns:a16="http://schemas.microsoft.com/office/drawing/2014/main" id="{6E92E44A-5E05-2E76-124B-92499B41F7B3}"/>
                </a:ext>
              </a:extLst>
            </p:cNvPr>
            <p:cNvSpPr/>
            <p:nvPr/>
          </p:nvSpPr>
          <p:spPr>
            <a:xfrm>
              <a:off x="4818888" y="409651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73" name="Text 24">
              <a:extLst>
                <a:ext uri="{FF2B5EF4-FFF2-40B4-BE49-F238E27FC236}">
                  <a16:creationId xmlns:a16="http://schemas.microsoft.com/office/drawing/2014/main" id="{C16CDD80-38EA-F521-A80E-4A9C79E0106A}"/>
                </a:ext>
              </a:extLst>
            </p:cNvPr>
            <p:cNvSpPr/>
            <p:nvPr/>
          </p:nvSpPr>
          <p:spPr>
            <a:xfrm>
              <a:off x="5212080" y="384048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Manque de surveillance</a:t>
              </a:r>
              <a:endParaRPr lang="en-US" sz="1300" dirty="0"/>
            </a:p>
          </p:txBody>
        </p:sp>
        <p:sp>
          <p:nvSpPr>
            <p:cNvPr id="74" name="Text 25">
              <a:extLst>
                <a:ext uri="{FF2B5EF4-FFF2-40B4-BE49-F238E27FC236}">
                  <a16:creationId xmlns:a16="http://schemas.microsoft.com/office/drawing/2014/main" id="{DE31359D-8E8E-F8D2-D571-6D745BC43F8B}"/>
                </a:ext>
              </a:extLst>
            </p:cNvPr>
            <p:cNvSpPr/>
            <p:nvPr/>
          </p:nvSpPr>
          <p:spPr>
            <a:xfrm>
              <a:off x="5212080" y="420624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 encadrement insuffisant favorise l'émergence de conflits non résolus.</a:t>
              </a:r>
              <a:endParaRPr lang="en-US" sz="1050" dirty="0"/>
            </a:p>
          </p:txBody>
        </p:sp>
      </p:grpSp>
      <p:sp>
        <p:nvSpPr>
          <p:cNvPr id="75" name="Text 1">
            <a:extLst>
              <a:ext uri="{FF2B5EF4-FFF2-40B4-BE49-F238E27FC236}">
                <a16:creationId xmlns:a16="http://schemas.microsoft.com/office/drawing/2014/main" id="{B7ED918C-7C09-5BF2-8CB2-AC6E69E90EC6}"/>
              </a:ext>
            </a:extLst>
          </p:cNvPr>
          <p:cNvSpPr/>
          <p:nvPr/>
        </p:nvSpPr>
        <p:spPr>
          <a:xfrm>
            <a:off x="274320" y="-978408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CAUSES DE LA VIOLENCE SCOLAIRE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A4A6ED17-68D4-6B70-18DE-F91CF03146FA}"/>
              </a:ext>
            </a:extLst>
          </p:cNvPr>
          <p:cNvGrpSpPr/>
          <p:nvPr/>
        </p:nvGrpSpPr>
        <p:grpSpPr>
          <a:xfrm>
            <a:off x="9355755" y="1005840"/>
            <a:ext cx="2743200" cy="3858768"/>
            <a:chOff x="6035040" y="1005840"/>
            <a:chExt cx="2743200" cy="3858768"/>
          </a:xfrm>
        </p:grpSpPr>
        <p:sp>
          <p:nvSpPr>
            <p:cNvPr id="71" name="Shape 10">
              <a:extLst>
                <a:ext uri="{FF2B5EF4-FFF2-40B4-BE49-F238E27FC236}">
                  <a16:creationId xmlns:a16="http://schemas.microsoft.com/office/drawing/2014/main" id="{323F4460-CA09-3B9A-68BB-21E844594D96}"/>
                </a:ext>
              </a:extLst>
            </p:cNvPr>
            <p:cNvSpPr/>
            <p:nvPr/>
          </p:nvSpPr>
          <p:spPr>
            <a:xfrm>
              <a:off x="6035040" y="1005840"/>
              <a:ext cx="2743200" cy="475488"/>
            </a:xfrm>
            <a:prstGeom prst="rect">
              <a:avLst/>
            </a:prstGeom>
            <a:solidFill>
              <a:srgbClr val="2C7A3C"/>
            </a:solidFill>
            <a:ln w="12700">
              <a:solidFill>
                <a:srgbClr val="2C7A3C"/>
              </a:solidFill>
              <a:prstDash val="solid"/>
            </a:ln>
          </p:spPr>
        </p:sp>
        <p:sp>
          <p:nvSpPr>
            <p:cNvPr id="72" name="Text 11">
              <a:extLst>
                <a:ext uri="{FF2B5EF4-FFF2-40B4-BE49-F238E27FC236}">
                  <a16:creationId xmlns:a16="http://schemas.microsoft.com/office/drawing/2014/main" id="{151EE613-F106-3551-D173-8A3CBF49EA6A}"/>
                </a:ext>
              </a:extLst>
            </p:cNvPr>
            <p:cNvSpPr/>
            <p:nvPr/>
          </p:nvSpPr>
          <p:spPr>
            <a:xfrm>
              <a:off x="6035040" y="1005840"/>
              <a:ext cx="2743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Sur l'école</a:t>
              </a:r>
              <a:endParaRPr lang="en-US" sz="1300" dirty="0"/>
            </a:p>
          </p:txBody>
        </p:sp>
        <p:sp>
          <p:nvSpPr>
            <p:cNvPr id="73" name="Shape 12">
              <a:extLst>
                <a:ext uri="{FF2B5EF4-FFF2-40B4-BE49-F238E27FC236}">
                  <a16:creationId xmlns:a16="http://schemas.microsoft.com/office/drawing/2014/main" id="{6BD946D5-1B44-7B9F-A267-3CD9F8397D8E}"/>
                </a:ext>
              </a:extLst>
            </p:cNvPr>
            <p:cNvSpPr/>
            <p:nvPr/>
          </p:nvSpPr>
          <p:spPr>
            <a:xfrm>
              <a:off x="6035040" y="1481328"/>
              <a:ext cx="2743200" cy="33832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4" name="Text 13">
              <a:extLst>
                <a:ext uri="{FF2B5EF4-FFF2-40B4-BE49-F238E27FC236}">
                  <a16:creationId xmlns:a16="http://schemas.microsoft.com/office/drawing/2014/main" id="{AEE4975A-405A-5379-638F-8C9CF8ED2AA0}"/>
                </a:ext>
              </a:extLst>
            </p:cNvPr>
            <p:cNvSpPr/>
            <p:nvPr/>
          </p:nvSpPr>
          <p:spPr>
            <a:xfrm>
              <a:off x="6126480" y="1554480"/>
              <a:ext cx="2560320" cy="3200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Climat scolaire détérioré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Démotivation des enseignants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 négative de l'établissement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Baisse des performances globales</a:t>
              </a:r>
              <a:endParaRPr lang="en-US" sz="1200" dirty="0"/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CAUSES DE LA VIOLENCE SCOLAIRE</a:t>
            </a:r>
            <a:endParaRPr lang="en-US" sz="2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E173F7D-97B5-5988-6F4B-CF6A5D367E4E}"/>
              </a:ext>
            </a:extLst>
          </p:cNvPr>
          <p:cNvGrpSpPr/>
          <p:nvPr/>
        </p:nvGrpSpPr>
        <p:grpSpPr>
          <a:xfrm>
            <a:off x="274320" y="1097280"/>
            <a:ext cx="8595360" cy="1188720"/>
            <a:chOff x="274320" y="1097280"/>
            <a:chExt cx="8595360" cy="1188720"/>
          </a:xfrm>
        </p:grpSpPr>
        <p:sp>
          <p:nvSpPr>
            <p:cNvPr id="4" name="Shape 2"/>
            <p:cNvSpPr/>
            <p:nvPr/>
          </p:nvSpPr>
          <p:spPr>
            <a:xfrm>
              <a:off x="274320" y="109728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384048" y="144475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77240" y="118872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Stress des examens</a:t>
              </a:r>
              <a:endParaRPr lang="en-US" sz="13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77240" y="155448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pression académique excessive génère anxiété et comportements agressifs.</a:t>
              </a:r>
              <a:endParaRPr lang="en-US" sz="105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709160" y="109728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4818888" y="144475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5212080" y="118872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Réseaux sociaux nocifs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212080" y="155448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L'addiction aux réseaux sociaux expose les élèves à la violence en ligne et normalise les comportements agressifs.</a:t>
              </a:r>
              <a:endParaRPr lang="en-US" sz="105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7F72BD-4E56-5DF9-72F4-03E377C6C8CB}"/>
              </a:ext>
            </a:extLst>
          </p:cNvPr>
          <p:cNvGrpSpPr/>
          <p:nvPr/>
        </p:nvGrpSpPr>
        <p:grpSpPr>
          <a:xfrm>
            <a:off x="274320" y="2423160"/>
            <a:ext cx="8595360" cy="1188720"/>
            <a:chOff x="274320" y="2423160"/>
            <a:chExt cx="8595360" cy="1188720"/>
          </a:xfrm>
        </p:grpSpPr>
        <p:sp>
          <p:nvSpPr>
            <p:cNvPr id="12" name="Shape 10"/>
            <p:cNvSpPr/>
            <p:nvPr/>
          </p:nvSpPr>
          <p:spPr>
            <a:xfrm>
              <a:off x="274320" y="242316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384048" y="277063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777240" y="251460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Mauvaises fréquentations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77240" y="288036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L'influence de mauvais camarades et la consommation de drogues sont des facteurs majeurs.</a:t>
              </a:r>
              <a:endParaRPr lang="en-US" sz="10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709160" y="242316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4818888" y="277063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212080" y="251460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Environnement familial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212080" y="288036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 cadre familial instable ou violent reproduit ces comportements à l'école.</a:t>
              </a:r>
              <a:endParaRPr lang="en-US" sz="105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EAA3B04-B3D9-E76B-55A6-E12E9F208194}"/>
              </a:ext>
            </a:extLst>
          </p:cNvPr>
          <p:cNvGrpSpPr/>
          <p:nvPr/>
        </p:nvGrpSpPr>
        <p:grpSpPr>
          <a:xfrm>
            <a:off x="274320" y="3749040"/>
            <a:ext cx="8595360" cy="1188720"/>
            <a:chOff x="274320" y="3749040"/>
            <a:chExt cx="8595360" cy="1188720"/>
          </a:xfrm>
        </p:grpSpPr>
        <p:sp>
          <p:nvSpPr>
            <p:cNvPr id="20" name="Shape 18"/>
            <p:cNvSpPr/>
            <p:nvPr/>
          </p:nvSpPr>
          <p:spPr>
            <a:xfrm>
              <a:off x="274320" y="374904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384048" y="409651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77240" y="384048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Inégalités sociales</a:t>
              </a:r>
              <a:endParaRPr lang="en-US" sz="13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777240" y="420624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inégalités économiques et sociales créent frustration et tensions entre élèves.</a:t>
              </a:r>
              <a:endParaRPr lang="en-US" sz="10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709160" y="374904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4818888" y="409651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212080" y="384048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Manque de surveillance</a:t>
              </a:r>
              <a:endParaRPr lang="en-US" sz="13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212080" y="420624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 encadrement insuffisant favorise l'émergence de conflits non résolus.</a:t>
              </a:r>
              <a:endParaRPr lang="en-US" sz="105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B8106B9-9179-9FB5-0CCF-7C6C911BF4B0}"/>
              </a:ext>
            </a:extLst>
          </p:cNvPr>
          <p:cNvGrpSpPr/>
          <p:nvPr/>
        </p:nvGrpSpPr>
        <p:grpSpPr>
          <a:xfrm>
            <a:off x="-5601911" y="1097280"/>
            <a:ext cx="5303520" cy="3474720"/>
            <a:chOff x="365760" y="1097280"/>
            <a:chExt cx="5303520" cy="347472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97289183-CBE7-8B52-5AC3-02F8E589CCD2}"/>
                </a:ext>
              </a:extLst>
            </p:cNvPr>
            <p:cNvSpPr/>
            <p:nvPr/>
          </p:nvSpPr>
          <p:spPr>
            <a:xfrm>
              <a:off x="365760" y="1097280"/>
              <a:ext cx="5303520" cy="3474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AEB3C7F1-321D-A02E-3509-F92EC15A3010}"/>
                </a:ext>
              </a:extLst>
            </p:cNvPr>
            <p:cNvSpPr/>
            <p:nvPr/>
          </p:nvSpPr>
          <p:spPr>
            <a:xfrm>
              <a:off x="365760" y="1097280"/>
              <a:ext cx="91440" cy="3474720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34" name="Text 4">
              <a:extLst>
                <a:ext uri="{FF2B5EF4-FFF2-40B4-BE49-F238E27FC236}">
                  <a16:creationId xmlns:a16="http://schemas.microsoft.com/office/drawing/2014/main" id="{C6B326B3-8F63-E6BC-C8C6-10AB42429708}"/>
                </a:ext>
              </a:extLst>
            </p:cNvPr>
            <p:cNvSpPr/>
            <p:nvPr/>
          </p:nvSpPr>
          <p:spPr>
            <a:xfrm>
              <a:off x="594360" y="1280160"/>
              <a:ext cx="4937760" cy="1828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violence scolaire désigne tout acte d'agression physique, verbale ou psychologique survenant dans le milieu scolaire — entre élèves, ou envers le personnel enseignant.</a:t>
              </a:r>
              <a:endParaRPr lang="en-US" sz="1500" dirty="0"/>
            </a:p>
          </p:txBody>
        </p:sp>
        <p:sp>
          <p:nvSpPr>
            <p:cNvPr id="35" name="Text 5">
              <a:extLst>
                <a:ext uri="{FF2B5EF4-FFF2-40B4-BE49-F238E27FC236}">
                  <a16:creationId xmlns:a16="http://schemas.microsoft.com/office/drawing/2014/main" id="{85E21AC1-AB9F-50AB-FF31-0E88A619B724}"/>
                </a:ext>
              </a:extLst>
            </p:cNvPr>
            <p:cNvSpPr/>
            <p:nvPr/>
          </p:nvSpPr>
          <p:spPr>
            <a:xfrm>
              <a:off x="594360" y="2971800"/>
              <a:ext cx="4937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Elle peut prendre plusieurs formes :</a:t>
              </a:r>
              <a:endParaRPr lang="en-US" sz="1300" dirty="0"/>
            </a:p>
          </p:txBody>
        </p:sp>
        <p:sp>
          <p:nvSpPr>
            <p:cNvPr id="36" name="Text 6">
              <a:extLst>
                <a:ext uri="{FF2B5EF4-FFF2-40B4-BE49-F238E27FC236}">
                  <a16:creationId xmlns:a16="http://schemas.microsoft.com/office/drawing/2014/main" id="{94186BEF-02EF-5E41-7993-78AF5F424A63}"/>
                </a:ext>
              </a:extLst>
            </p:cNvPr>
            <p:cNvSpPr/>
            <p:nvPr/>
          </p:nvSpPr>
          <p:spPr>
            <a:xfrm>
              <a:off x="594360" y="3337560"/>
              <a:ext cx="493776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30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Violence physique</a:t>
              </a:r>
              <a:endParaRPr lang="en-US" sz="1300" dirty="0"/>
            </a:p>
            <a:p>
              <a:pPr marL="342900" indent="-342900">
                <a:buSzPct val="100000"/>
                <a:buChar char="•"/>
              </a:pPr>
              <a:r>
                <a:rPr lang="en-US" sz="13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Violence verbale &amp; cyberharcèlement</a:t>
              </a:r>
              <a:endParaRPr lang="en-US" sz="1300" dirty="0"/>
            </a:p>
            <a:p>
              <a:pPr marL="342900" indent="-342900">
                <a:buSzPct val="100000"/>
                <a:buChar char="•"/>
              </a:pPr>
              <a:r>
                <a:rPr lang="en-US" sz="13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Violence psychologique &amp; exclusion</a:t>
              </a:r>
              <a:endParaRPr lang="en-US" sz="13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EC9C5D7-0A6E-C7B8-7B1A-64C13E61D849}"/>
              </a:ext>
            </a:extLst>
          </p:cNvPr>
          <p:cNvGrpSpPr/>
          <p:nvPr/>
        </p:nvGrpSpPr>
        <p:grpSpPr>
          <a:xfrm>
            <a:off x="6035040" y="-1927463"/>
            <a:ext cx="2743200" cy="1645920"/>
            <a:chOff x="6035040" y="1188720"/>
            <a:chExt cx="2743200" cy="1645920"/>
          </a:xfrm>
        </p:grpSpPr>
        <p:sp>
          <p:nvSpPr>
            <p:cNvPr id="38" name="Shape 7">
              <a:extLst>
                <a:ext uri="{FF2B5EF4-FFF2-40B4-BE49-F238E27FC236}">
                  <a16:creationId xmlns:a16="http://schemas.microsoft.com/office/drawing/2014/main" id="{6FD72C52-19F2-B166-D117-DC9C6AED24C3}"/>
                </a:ext>
              </a:extLst>
            </p:cNvPr>
            <p:cNvSpPr/>
            <p:nvPr/>
          </p:nvSpPr>
          <p:spPr>
            <a:xfrm>
              <a:off x="6035040" y="1188720"/>
              <a:ext cx="2743200" cy="1645920"/>
            </a:xfrm>
            <a:prstGeom prst="rect">
              <a:avLst/>
            </a:prstGeom>
            <a:solidFill>
              <a:srgbClr val="1E2761"/>
            </a:solidFill>
            <a:ln/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D22B716C-5264-978F-7F89-06F134807E0E}"/>
                </a:ext>
              </a:extLst>
            </p:cNvPr>
            <p:cNvSpPr/>
            <p:nvPr/>
          </p:nvSpPr>
          <p:spPr>
            <a:xfrm>
              <a:off x="6035040" y="1371600"/>
              <a:ext cx="27432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1 sur 3</a:t>
              </a:r>
              <a:endParaRPr lang="en-US" sz="36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367F58F7-D155-8DE7-BA60-2EBE7CE8EBB3}"/>
                </a:ext>
              </a:extLst>
            </p:cNvPr>
            <p:cNvSpPr/>
            <p:nvPr/>
          </p:nvSpPr>
          <p:spPr>
            <a:xfrm>
              <a:off x="6035040" y="2084832"/>
              <a:ext cx="2743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élèves est victime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 harcèlement scolaire</a:t>
              </a:r>
              <a:endParaRPr lang="en-US" sz="11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9D55EC-2351-4B02-D584-BB049E5AF7C7}"/>
              </a:ext>
            </a:extLst>
          </p:cNvPr>
          <p:cNvGrpSpPr/>
          <p:nvPr/>
        </p:nvGrpSpPr>
        <p:grpSpPr>
          <a:xfrm>
            <a:off x="6035040" y="6039855"/>
            <a:ext cx="2743200" cy="1645920"/>
            <a:chOff x="6035040" y="3200400"/>
            <a:chExt cx="2743200" cy="1645920"/>
          </a:xfrm>
        </p:grpSpPr>
        <p:sp>
          <p:nvSpPr>
            <p:cNvPr id="42" name="Shape 10">
              <a:extLst>
                <a:ext uri="{FF2B5EF4-FFF2-40B4-BE49-F238E27FC236}">
                  <a16:creationId xmlns:a16="http://schemas.microsoft.com/office/drawing/2014/main" id="{CC810A03-CE62-E381-15FF-994455E101DA}"/>
                </a:ext>
              </a:extLst>
            </p:cNvPr>
            <p:cNvSpPr/>
            <p:nvPr/>
          </p:nvSpPr>
          <p:spPr>
            <a:xfrm>
              <a:off x="6035040" y="3200400"/>
              <a:ext cx="2743200" cy="1645920"/>
            </a:xfrm>
            <a:prstGeom prst="rect">
              <a:avLst/>
            </a:prstGeom>
            <a:solidFill>
              <a:srgbClr val="990011"/>
            </a:solidFill>
            <a:ln/>
            <a:effectLst>
              <a:outerShdw blurRad="101600" dist="25400" dir="81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97655272-B22E-AD80-1957-2B3A523FE1ED}"/>
                </a:ext>
              </a:extLst>
            </p:cNvPr>
            <p:cNvSpPr/>
            <p:nvPr/>
          </p:nvSpPr>
          <p:spPr>
            <a:xfrm>
              <a:off x="6035040" y="3383280"/>
              <a:ext cx="27432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40%</a:t>
              </a:r>
              <a:endParaRPr lang="en-US" sz="3600" dirty="0"/>
            </a:p>
          </p:txBody>
        </p:sp>
        <p:sp>
          <p:nvSpPr>
            <p:cNvPr id="44" name="Text 12">
              <a:extLst>
                <a:ext uri="{FF2B5EF4-FFF2-40B4-BE49-F238E27FC236}">
                  <a16:creationId xmlns:a16="http://schemas.microsoft.com/office/drawing/2014/main" id="{100C59DA-5677-6630-CAB1-C5B7F532FFEC}"/>
                </a:ext>
              </a:extLst>
            </p:cNvPr>
            <p:cNvSpPr/>
            <p:nvPr/>
          </p:nvSpPr>
          <p:spPr>
            <a:xfrm>
              <a:off x="6035040" y="4096512"/>
              <a:ext cx="2743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 cas ne sont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jamais signalés</a:t>
              </a:r>
              <a:endParaRPr lang="en-US" sz="1100" dirty="0"/>
            </a:p>
          </p:txBody>
        </p:sp>
      </p:grpSp>
      <p:sp>
        <p:nvSpPr>
          <p:cNvPr id="45" name="Text 1">
            <a:extLst>
              <a:ext uri="{FF2B5EF4-FFF2-40B4-BE49-F238E27FC236}">
                <a16:creationId xmlns:a16="http://schemas.microsoft.com/office/drawing/2014/main" id="{7B025759-3114-8B39-D971-3B6F3A3DBDE0}"/>
              </a:ext>
            </a:extLst>
          </p:cNvPr>
          <p:cNvSpPr/>
          <p:nvPr/>
        </p:nvSpPr>
        <p:spPr>
          <a:xfrm>
            <a:off x="-3142653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DÉFINITION</a:t>
            </a:r>
            <a:endParaRPr lang="en-US" sz="24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E748C08-D4EF-4811-2526-08984F0A84A9}"/>
              </a:ext>
            </a:extLst>
          </p:cNvPr>
          <p:cNvGrpSpPr/>
          <p:nvPr/>
        </p:nvGrpSpPr>
        <p:grpSpPr>
          <a:xfrm>
            <a:off x="9346143" y="1005840"/>
            <a:ext cx="2743200" cy="3858768"/>
            <a:chOff x="274320" y="1005840"/>
            <a:chExt cx="2743200" cy="3858768"/>
          </a:xfrm>
        </p:grpSpPr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82EAE5ED-BD1C-2A6D-34A6-A2D102A6AC50}"/>
                </a:ext>
              </a:extLst>
            </p:cNvPr>
            <p:cNvSpPr/>
            <p:nvPr/>
          </p:nvSpPr>
          <p:spPr>
            <a:xfrm>
              <a:off x="274320" y="1005840"/>
              <a:ext cx="2743200" cy="475488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48" name="Text 3">
              <a:extLst>
                <a:ext uri="{FF2B5EF4-FFF2-40B4-BE49-F238E27FC236}">
                  <a16:creationId xmlns:a16="http://schemas.microsoft.com/office/drawing/2014/main" id="{36C77A38-B874-8448-7338-355619571698}"/>
                </a:ext>
              </a:extLst>
            </p:cNvPr>
            <p:cNvSpPr/>
            <p:nvPr/>
          </p:nvSpPr>
          <p:spPr>
            <a:xfrm>
              <a:off x="274320" y="1005840"/>
              <a:ext cx="2743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Sur les élèves</a:t>
              </a:r>
              <a:endParaRPr lang="en-US" sz="1300" dirty="0"/>
            </a:p>
          </p:txBody>
        </p:sp>
        <p:sp>
          <p:nvSpPr>
            <p:cNvPr id="49" name="Shape 4">
              <a:extLst>
                <a:ext uri="{FF2B5EF4-FFF2-40B4-BE49-F238E27FC236}">
                  <a16:creationId xmlns:a16="http://schemas.microsoft.com/office/drawing/2014/main" id="{4087B389-3640-A780-58DA-5FC177A848B7}"/>
                </a:ext>
              </a:extLst>
            </p:cNvPr>
            <p:cNvSpPr/>
            <p:nvPr/>
          </p:nvSpPr>
          <p:spPr>
            <a:xfrm>
              <a:off x="274320" y="1481328"/>
              <a:ext cx="2743200" cy="33832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0" name="Text 5">
              <a:extLst>
                <a:ext uri="{FF2B5EF4-FFF2-40B4-BE49-F238E27FC236}">
                  <a16:creationId xmlns:a16="http://schemas.microsoft.com/office/drawing/2014/main" id="{92A105B9-6EE0-CD2B-6127-630CE94D7981}"/>
                </a:ext>
              </a:extLst>
            </p:cNvPr>
            <p:cNvSpPr/>
            <p:nvPr/>
          </p:nvSpPr>
          <p:spPr>
            <a:xfrm>
              <a:off x="365760" y="1554480"/>
              <a:ext cx="2560320" cy="3200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Traumatismes psychologiques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Chute des résultats scolaires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Dépression et anxiété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Absentéisme et décrochage</a:t>
              </a:r>
              <a:endParaRPr lang="en-US" sz="12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02179DB-6186-D634-CE12-4A57797439DA}"/>
              </a:ext>
            </a:extLst>
          </p:cNvPr>
          <p:cNvGrpSpPr/>
          <p:nvPr/>
        </p:nvGrpSpPr>
        <p:grpSpPr>
          <a:xfrm>
            <a:off x="9350947" y="1005840"/>
            <a:ext cx="2743200" cy="3858768"/>
            <a:chOff x="3154680" y="1005840"/>
            <a:chExt cx="2743200" cy="3858768"/>
          </a:xfrm>
        </p:grpSpPr>
        <p:sp>
          <p:nvSpPr>
            <p:cNvPr id="56" name="Shape 6">
              <a:extLst>
                <a:ext uri="{FF2B5EF4-FFF2-40B4-BE49-F238E27FC236}">
                  <a16:creationId xmlns:a16="http://schemas.microsoft.com/office/drawing/2014/main" id="{854E1282-C8B3-8AEE-C976-715A7315A297}"/>
                </a:ext>
              </a:extLst>
            </p:cNvPr>
            <p:cNvSpPr/>
            <p:nvPr/>
          </p:nvSpPr>
          <p:spPr>
            <a:xfrm>
              <a:off x="3154680" y="1005840"/>
              <a:ext cx="2743200" cy="475488"/>
            </a:xfrm>
            <a:prstGeom prst="rect">
              <a:avLst/>
            </a:prstGeom>
            <a:solidFill>
              <a:srgbClr val="1A6B8A"/>
            </a:solidFill>
            <a:ln w="12700">
              <a:solidFill>
                <a:srgbClr val="1A6B8A"/>
              </a:solidFill>
              <a:prstDash val="solid"/>
            </a:ln>
          </p:spPr>
        </p:sp>
        <p:sp>
          <p:nvSpPr>
            <p:cNvPr id="57" name="Text 7">
              <a:extLst>
                <a:ext uri="{FF2B5EF4-FFF2-40B4-BE49-F238E27FC236}">
                  <a16:creationId xmlns:a16="http://schemas.microsoft.com/office/drawing/2014/main" id="{0AC9BA5B-B6DE-31CA-ADD5-83B780FBCDE6}"/>
                </a:ext>
              </a:extLst>
            </p:cNvPr>
            <p:cNvSpPr/>
            <p:nvPr/>
          </p:nvSpPr>
          <p:spPr>
            <a:xfrm>
              <a:off x="3154680" y="1005840"/>
              <a:ext cx="2743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Sur la famille</a:t>
              </a:r>
              <a:endParaRPr lang="en-US" sz="1300" dirty="0"/>
            </a:p>
          </p:txBody>
        </p:sp>
        <p:sp>
          <p:nvSpPr>
            <p:cNvPr id="58" name="Shape 8">
              <a:extLst>
                <a:ext uri="{FF2B5EF4-FFF2-40B4-BE49-F238E27FC236}">
                  <a16:creationId xmlns:a16="http://schemas.microsoft.com/office/drawing/2014/main" id="{0E3FCD62-6474-2840-CB15-6190A2E23666}"/>
                </a:ext>
              </a:extLst>
            </p:cNvPr>
            <p:cNvSpPr/>
            <p:nvPr/>
          </p:nvSpPr>
          <p:spPr>
            <a:xfrm>
              <a:off x="3154680" y="1481328"/>
              <a:ext cx="2743200" cy="33832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9" name="Text 9">
              <a:extLst>
                <a:ext uri="{FF2B5EF4-FFF2-40B4-BE49-F238E27FC236}">
                  <a16:creationId xmlns:a16="http://schemas.microsoft.com/office/drawing/2014/main" id="{8C806F87-EFA2-E7AF-2E66-FE7E0D3006AE}"/>
                </a:ext>
              </a:extLst>
            </p:cNvPr>
            <p:cNvSpPr/>
            <p:nvPr/>
          </p:nvSpPr>
          <p:spPr>
            <a:xfrm>
              <a:off x="3246120" y="1554480"/>
              <a:ext cx="2560320" cy="3200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Stress et inquiétude parentale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Coûts sociaux et médicaux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Dégradation des relations familiales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Sentiment d'impuissance</a:t>
              </a:r>
              <a:endParaRPr lang="en-US" sz="1200" dirty="0"/>
            </a:p>
          </p:txBody>
        </p:sp>
      </p:grpSp>
      <p:sp>
        <p:nvSpPr>
          <p:cNvPr id="75" name="Text 1">
            <a:extLst>
              <a:ext uri="{FF2B5EF4-FFF2-40B4-BE49-F238E27FC236}">
                <a16:creationId xmlns:a16="http://schemas.microsoft.com/office/drawing/2014/main" id="{44E136CF-712F-FCB6-B9CD-09DA1B4BC8AE}"/>
              </a:ext>
            </a:extLst>
          </p:cNvPr>
          <p:cNvSpPr/>
          <p:nvPr/>
        </p:nvSpPr>
        <p:spPr>
          <a:xfrm>
            <a:off x="-3832466" y="8021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— CONSÉQUENCES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— CONSÉQUENCES</a:t>
            </a:r>
            <a:endParaRPr lang="en-US" sz="24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B02C947-A6CB-22EF-5C5D-BA45BA52F905}"/>
              </a:ext>
            </a:extLst>
          </p:cNvPr>
          <p:cNvGrpSpPr/>
          <p:nvPr/>
        </p:nvGrpSpPr>
        <p:grpSpPr>
          <a:xfrm>
            <a:off x="274320" y="1005840"/>
            <a:ext cx="2743200" cy="3858768"/>
            <a:chOff x="274320" y="1005840"/>
            <a:chExt cx="2743200" cy="3858768"/>
          </a:xfrm>
        </p:grpSpPr>
        <p:sp>
          <p:nvSpPr>
            <p:cNvPr id="4" name="Shape 2"/>
            <p:cNvSpPr/>
            <p:nvPr/>
          </p:nvSpPr>
          <p:spPr>
            <a:xfrm>
              <a:off x="274320" y="1005840"/>
              <a:ext cx="2743200" cy="475488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274320" y="1005840"/>
              <a:ext cx="2743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Sur les élèves</a:t>
              </a:r>
              <a:endParaRPr lang="en-US" sz="13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74320" y="1481328"/>
              <a:ext cx="2743200" cy="33832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365760" y="1554480"/>
              <a:ext cx="2560320" cy="3200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Traumatismes psychologiques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Chute des résultats scolaires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Dépression et anxiété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Absentéisme et décrochage</a:t>
              </a:r>
              <a:endParaRPr lang="en-US" sz="12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B2B007E-3302-C1DD-41EC-A7579CEA39D8}"/>
              </a:ext>
            </a:extLst>
          </p:cNvPr>
          <p:cNvGrpSpPr/>
          <p:nvPr/>
        </p:nvGrpSpPr>
        <p:grpSpPr>
          <a:xfrm>
            <a:off x="3154680" y="1005840"/>
            <a:ext cx="2743200" cy="3858768"/>
            <a:chOff x="3154680" y="1005840"/>
            <a:chExt cx="2743200" cy="3858768"/>
          </a:xfrm>
        </p:grpSpPr>
        <p:sp>
          <p:nvSpPr>
            <p:cNvPr id="8" name="Shape 6"/>
            <p:cNvSpPr/>
            <p:nvPr/>
          </p:nvSpPr>
          <p:spPr>
            <a:xfrm>
              <a:off x="3154680" y="1005840"/>
              <a:ext cx="2743200" cy="475488"/>
            </a:xfrm>
            <a:prstGeom prst="rect">
              <a:avLst/>
            </a:prstGeom>
            <a:solidFill>
              <a:srgbClr val="1A6B8A"/>
            </a:solidFill>
            <a:ln w="12700">
              <a:solidFill>
                <a:srgbClr val="1A6B8A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154680" y="1005840"/>
              <a:ext cx="2743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Sur la famille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154680" y="1481328"/>
              <a:ext cx="2743200" cy="33832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3246120" y="1554480"/>
              <a:ext cx="2560320" cy="3200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Stress et inquiétude parentale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Coûts sociaux et médicaux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Dégradation des relations familiales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Sentiment d'impuissance</a:t>
              </a:r>
              <a:endParaRPr lang="en-US" sz="12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7280503-674A-4C0B-E261-0A30DB2E15E5}"/>
              </a:ext>
            </a:extLst>
          </p:cNvPr>
          <p:cNvGrpSpPr/>
          <p:nvPr/>
        </p:nvGrpSpPr>
        <p:grpSpPr>
          <a:xfrm>
            <a:off x="6035040" y="1005840"/>
            <a:ext cx="2743200" cy="3858768"/>
            <a:chOff x="6035040" y="1005840"/>
            <a:chExt cx="2743200" cy="3858768"/>
          </a:xfrm>
        </p:grpSpPr>
        <p:sp>
          <p:nvSpPr>
            <p:cNvPr id="12" name="Shape 10"/>
            <p:cNvSpPr/>
            <p:nvPr/>
          </p:nvSpPr>
          <p:spPr>
            <a:xfrm>
              <a:off x="6035040" y="1005840"/>
              <a:ext cx="2743200" cy="475488"/>
            </a:xfrm>
            <a:prstGeom prst="rect">
              <a:avLst/>
            </a:prstGeom>
            <a:solidFill>
              <a:srgbClr val="2C7A3C"/>
            </a:solidFill>
            <a:ln w="12700">
              <a:solidFill>
                <a:srgbClr val="2C7A3C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6035040" y="1005840"/>
              <a:ext cx="2743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Sur l'école</a:t>
              </a:r>
              <a:endParaRPr lang="en-US" sz="13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035040" y="1481328"/>
              <a:ext cx="2743200" cy="33832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6126480" y="1554480"/>
              <a:ext cx="2560320" cy="3200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Climat scolaire détérioré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Démotivation des enseignants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 négative de l'établissement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Baisse des performances globales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B89D61-FFF7-3B66-E1FE-F2BD794CDA66}"/>
              </a:ext>
            </a:extLst>
          </p:cNvPr>
          <p:cNvGrpSpPr/>
          <p:nvPr/>
        </p:nvGrpSpPr>
        <p:grpSpPr>
          <a:xfrm>
            <a:off x="274320" y="5313147"/>
            <a:ext cx="8595360" cy="1188720"/>
            <a:chOff x="274320" y="3749040"/>
            <a:chExt cx="8595360" cy="1188720"/>
          </a:xfrm>
        </p:grpSpPr>
        <p:sp>
          <p:nvSpPr>
            <p:cNvPr id="17" name="Shape 18">
              <a:extLst>
                <a:ext uri="{FF2B5EF4-FFF2-40B4-BE49-F238E27FC236}">
                  <a16:creationId xmlns:a16="http://schemas.microsoft.com/office/drawing/2014/main" id="{720543FE-B82F-BAC5-5601-B79B6B85DEA8}"/>
                </a:ext>
              </a:extLst>
            </p:cNvPr>
            <p:cNvSpPr/>
            <p:nvPr/>
          </p:nvSpPr>
          <p:spPr>
            <a:xfrm>
              <a:off x="274320" y="374904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8" name="Shape 19">
              <a:extLst>
                <a:ext uri="{FF2B5EF4-FFF2-40B4-BE49-F238E27FC236}">
                  <a16:creationId xmlns:a16="http://schemas.microsoft.com/office/drawing/2014/main" id="{5A9839A9-C625-7638-7AFB-3E42BB91940C}"/>
                </a:ext>
              </a:extLst>
            </p:cNvPr>
            <p:cNvSpPr/>
            <p:nvPr/>
          </p:nvSpPr>
          <p:spPr>
            <a:xfrm>
              <a:off x="384048" y="409651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19" name="Text 20">
              <a:extLst>
                <a:ext uri="{FF2B5EF4-FFF2-40B4-BE49-F238E27FC236}">
                  <a16:creationId xmlns:a16="http://schemas.microsoft.com/office/drawing/2014/main" id="{00C36CAD-798A-A0F6-D13B-4B23FB381000}"/>
                </a:ext>
              </a:extLst>
            </p:cNvPr>
            <p:cNvSpPr/>
            <p:nvPr/>
          </p:nvSpPr>
          <p:spPr>
            <a:xfrm>
              <a:off x="777240" y="384048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Inégalités sociales</a:t>
              </a:r>
              <a:endParaRPr lang="en-US" sz="1300" dirty="0"/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5357B749-2617-9DF2-C58E-0159E968C245}"/>
                </a:ext>
              </a:extLst>
            </p:cNvPr>
            <p:cNvSpPr/>
            <p:nvPr/>
          </p:nvSpPr>
          <p:spPr>
            <a:xfrm>
              <a:off x="777240" y="420624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 inégalités économiques et sociales créent frustration et tensions entre élèves.</a:t>
              </a:r>
              <a:endParaRPr lang="en-US" sz="1050" dirty="0"/>
            </a:p>
          </p:txBody>
        </p:sp>
        <p:sp>
          <p:nvSpPr>
            <p:cNvPr id="21" name="Shape 22">
              <a:extLst>
                <a:ext uri="{FF2B5EF4-FFF2-40B4-BE49-F238E27FC236}">
                  <a16:creationId xmlns:a16="http://schemas.microsoft.com/office/drawing/2014/main" id="{EF1309B4-5D05-51B4-2547-4D2C1871D622}"/>
                </a:ext>
              </a:extLst>
            </p:cNvPr>
            <p:cNvSpPr/>
            <p:nvPr/>
          </p:nvSpPr>
          <p:spPr>
            <a:xfrm>
              <a:off x="4709160" y="374904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2" name="Shape 23">
              <a:extLst>
                <a:ext uri="{FF2B5EF4-FFF2-40B4-BE49-F238E27FC236}">
                  <a16:creationId xmlns:a16="http://schemas.microsoft.com/office/drawing/2014/main" id="{A8A958CA-1A1D-5A27-24AB-94DAF7118D72}"/>
                </a:ext>
              </a:extLst>
            </p:cNvPr>
            <p:cNvSpPr/>
            <p:nvPr/>
          </p:nvSpPr>
          <p:spPr>
            <a:xfrm>
              <a:off x="4818888" y="409651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305891BB-2C9D-948B-0AFD-750F7BC230BB}"/>
                </a:ext>
              </a:extLst>
            </p:cNvPr>
            <p:cNvSpPr/>
            <p:nvPr/>
          </p:nvSpPr>
          <p:spPr>
            <a:xfrm>
              <a:off x="5212080" y="384048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Manque de surveillance</a:t>
              </a:r>
              <a:endParaRPr lang="en-US" sz="1300" dirty="0"/>
            </a:p>
          </p:txBody>
        </p:sp>
        <p:sp>
          <p:nvSpPr>
            <p:cNvPr id="24" name="Text 25">
              <a:extLst>
                <a:ext uri="{FF2B5EF4-FFF2-40B4-BE49-F238E27FC236}">
                  <a16:creationId xmlns:a16="http://schemas.microsoft.com/office/drawing/2014/main" id="{BD0EE303-3C57-CBE2-A5B2-4D3D0237DCC2}"/>
                </a:ext>
              </a:extLst>
            </p:cNvPr>
            <p:cNvSpPr/>
            <p:nvPr/>
          </p:nvSpPr>
          <p:spPr>
            <a:xfrm>
              <a:off x="5212080" y="420624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 encadrement insuffisant favorise l'émergence de conflits non résolus.</a:t>
              </a:r>
              <a:endParaRPr lang="en-US" sz="10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F1BD72D-8FD3-A2FD-C9C6-FF3E983721B2}"/>
              </a:ext>
            </a:extLst>
          </p:cNvPr>
          <p:cNvGrpSpPr/>
          <p:nvPr/>
        </p:nvGrpSpPr>
        <p:grpSpPr>
          <a:xfrm>
            <a:off x="274320" y="5455121"/>
            <a:ext cx="8595360" cy="1188720"/>
            <a:chOff x="274320" y="2423160"/>
            <a:chExt cx="8595360" cy="1188720"/>
          </a:xfrm>
        </p:grpSpPr>
        <p:sp>
          <p:nvSpPr>
            <p:cNvPr id="26" name="Shape 10">
              <a:extLst>
                <a:ext uri="{FF2B5EF4-FFF2-40B4-BE49-F238E27FC236}">
                  <a16:creationId xmlns:a16="http://schemas.microsoft.com/office/drawing/2014/main" id="{23B3186B-01DC-FEE4-E931-2C57A075986D}"/>
                </a:ext>
              </a:extLst>
            </p:cNvPr>
            <p:cNvSpPr/>
            <p:nvPr/>
          </p:nvSpPr>
          <p:spPr>
            <a:xfrm>
              <a:off x="274320" y="242316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7" name="Shape 11">
              <a:extLst>
                <a:ext uri="{FF2B5EF4-FFF2-40B4-BE49-F238E27FC236}">
                  <a16:creationId xmlns:a16="http://schemas.microsoft.com/office/drawing/2014/main" id="{C742CC9D-5F7E-9E47-8588-0BE373FAEF43}"/>
                </a:ext>
              </a:extLst>
            </p:cNvPr>
            <p:cNvSpPr/>
            <p:nvPr/>
          </p:nvSpPr>
          <p:spPr>
            <a:xfrm>
              <a:off x="384048" y="277063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28" name="Text 12">
              <a:extLst>
                <a:ext uri="{FF2B5EF4-FFF2-40B4-BE49-F238E27FC236}">
                  <a16:creationId xmlns:a16="http://schemas.microsoft.com/office/drawing/2014/main" id="{BB2878A7-0F0D-B2F1-0B96-1ABFD2BFCF4E}"/>
                </a:ext>
              </a:extLst>
            </p:cNvPr>
            <p:cNvSpPr/>
            <p:nvPr/>
          </p:nvSpPr>
          <p:spPr>
            <a:xfrm>
              <a:off x="777240" y="251460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Mauvaises fréquentations</a:t>
              </a:r>
              <a:endParaRPr lang="en-US" sz="1300" dirty="0"/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9D9BE4A9-91A0-D4FA-3AF2-748B78C94ABD}"/>
                </a:ext>
              </a:extLst>
            </p:cNvPr>
            <p:cNvSpPr/>
            <p:nvPr/>
          </p:nvSpPr>
          <p:spPr>
            <a:xfrm>
              <a:off x="777240" y="288036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L'influence de mauvais camarades et la consommation de drogues sont des facteurs majeurs.</a:t>
              </a:r>
              <a:endParaRPr lang="en-US" sz="1050" dirty="0"/>
            </a:p>
          </p:txBody>
        </p:sp>
        <p:sp>
          <p:nvSpPr>
            <p:cNvPr id="30" name="Shape 14">
              <a:extLst>
                <a:ext uri="{FF2B5EF4-FFF2-40B4-BE49-F238E27FC236}">
                  <a16:creationId xmlns:a16="http://schemas.microsoft.com/office/drawing/2014/main" id="{AB32076A-E438-1076-D4A9-0F8F48676E0C}"/>
                </a:ext>
              </a:extLst>
            </p:cNvPr>
            <p:cNvSpPr/>
            <p:nvPr/>
          </p:nvSpPr>
          <p:spPr>
            <a:xfrm>
              <a:off x="4709160" y="242316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1" name="Shape 15">
              <a:extLst>
                <a:ext uri="{FF2B5EF4-FFF2-40B4-BE49-F238E27FC236}">
                  <a16:creationId xmlns:a16="http://schemas.microsoft.com/office/drawing/2014/main" id="{3C7C6927-D523-5746-69E1-4B5067EA795E}"/>
                </a:ext>
              </a:extLst>
            </p:cNvPr>
            <p:cNvSpPr/>
            <p:nvPr/>
          </p:nvSpPr>
          <p:spPr>
            <a:xfrm>
              <a:off x="4818888" y="277063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32" name="Text 16">
              <a:extLst>
                <a:ext uri="{FF2B5EF4-FFF2-40B4-BE49-F238E27FC236}">
                  <a16:creationId xmlns:a16="http://schemas.microsoft.com/office/drawing/2014/main" id="{E567A5E8-D3C5-C7A3-6C68-E611C389CC73}"/>
                </a:ext>
              </a:extLst>
            </p:cNvPr>
            <p:cNvSpPr/>
            <p:nvPr/>
          </p:nvSpPr>
          <p:spPr>
            <a:xfrm>
              <a:off x="5212080" y="251460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Environnement familial</a:t>
              </a:r>
              <a:endParaRPr lang="en-US" sz="1300" dirty="0"/>
            </a:p>
          </p:txBody>
        </p:sp>
        <p:sp>
          <p:nvSpPr>
            <p:cNvPr id="33" name="Text 17">
              <a:extLst>
                <a:ext uri="{FF2B5EF4-FFF2-40B4-BE49-F238E27FC236}">
                  <a16:creationId xmlns:a16="http://schemas.microsoft.com/office/drawing/2014/main" id="{6320E78B-997D-6CB9-F516-E8705AB137A2}"/>
                </a:ext>
              </a:extLst>
            </p:cNvPr>
            <p:cNvSpPr/>
            <p:nvPr/>
          </p:nvSpPr>
          <p:spPr>
            <a:xfrm>
              <a:off x="5212080" y="288036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 cadre familial instable ou violent reproduit ces comportements à l'école.</a:t>
              </a:r>
              <a:endParaRPr lang="en-US" sz="105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DE0DC22-4080-7142-0069-1240AAEBD93A}"/>
              </a:ext>
            </a:extLst>
          </p:cNvPr>
          <p:cNvGrpSpPr/>
          <p:nvPr/>
        </p:nvGrpSpPr>
        <p:grpSpPr>
          <a:xfrm>
            <a:off x="274320" y="5452717"/>
            <a:ext cx="8595360" cy="1188720"/>
            <a:chOff x="274320" y="1097280"/>
            <a:chExt cx="8595360" cy="1188720"/>
          </a:xfrm>
        </p:grpSpPr>
        <p:sp>
          <p:nvSpPr>
            <p:cNvPr id="35" name="Shape 2">
              <a:extLst>
                <a:ext uri="{FF2B5EF4-FFF2-40B4-BE49-F238E27FC236}">
                  <a16:creationId xmlns:a16="http://schemas.microsoft.com/office/drawing/2014/main" id="{19DA4154-CD7A-6067-097A-C9EB9224ED62}"/>
                </a:ext>
              </a:extLst>
            </p:cNvPr>
            <p:cNvSpPr/>
            <p:nvPr/>
          </p:nvSpPr>
          <p:spPr>
            <a:xfrm>
              <a:off x="274320" y="109728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6" name="Shape 3">
              <a:extLst>
                <a:ext uri="{FF2B5EF4-FFF2-40B4-BE49-F238E27FC236}">
                  <a16:creationId xmlns:a16="http://schemas.microsoft.com/office/drawing/2014/main" id="{ABDDBA2E-0F72-7ED6-4944-EEF2CF4F2D0B}"/>
                </a:ext>
              </a:extLst>
            </p:cNvPr>
            <p:cNvSpPr/>
            <p:nvPr/>
          </p:nvSpPr>
          <p:spPr>
            <a:xfrm>
              <a:off x="384048" y="144475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37" name="Text 4">
              <a:extLst>
                <a:ext uri="{FF2B5EF4-FFF2-40B4-BE49-F238E27FC236}">
                  <a16:creationId xmlns:a16="http://schemas.microsoft.com/office/drawing/2014/main" id="{055000CD-434F-DB51-955C-06BA0ABAE0D6}"/>
                </a:ext>
              </a:extLst>
            </p:cNvPr>
            <p:cNvSpPr/>
            <p:nvPr/>
          </p:nvSpPr>
          <p:spPr>
            <a:xfrm>
              <a:off x="777240" y="118872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Stress des examens</a:t>
              </a:r>
              <a:endParaRPr lang="en-US" sz="1300" dirty="0"/>
            </a:p>
          </p:txBody>
        </p:sp>
        <p:sp>
          <p:nvSpPr>
            <p:cNvPr id="38" name="Text 5">
              <a:extLst>
                <a:ext uri="{FF2B5EF4-FFF2-40B4-BE49-F238E27FC236}">
                  <a16:creationId xmlns:a16="http://schemas.microsoft.com/office/drawing/2014/main" id="{7504B8AA-B6C6-AC9F-CF34-85B2107843BB}"/>
                </a:ext>
              </a:extLst>
            </p:cNvPr>
            <p:cNvSpPr/>
            <p:nvPr/>
          </p:nvSpPr>
          <p:spPr>
            <a:xfrm>
              <a:off x="777240" y="155448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pression académique excessive génère anxiété et comportements agressifs.</a:t>
              </a:r>
              <a:endParaRPr lang="en-US" sz="1050" dirty="0"/>
            </a:p>
          </p:txBody>
        </p:sp>
        <p:sp>
          <p:nvSpPr>
            <p:cNvPr id="39" name="Shape 6">
              <a:extLst>
                <a:ext uri="{FF2B5EF4-FFF2-40B4-BE49-F238E27FC236}">
                  <a16:creationId xmlns:a16="http://schemas.microsoft.com/office/drawing/2014/main" id="{E19F3151-6A2B-6D90-8E41-40DA578604FA}"/>
                </a:ext>
              </a:extLst>
            </p:cNvPr>
            <p:cNvSpPr/>
            <p:nvPr/>
          </p:nvSpPr>
          <p:spPr>
            <a:xfrm>
              <a:off x="4709160" y="1097280"/>
              <a:ext cx="4160520" cy="1188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7D21CF95-2014-FD72-41BA-98507D9DEB4D}"/>
                </a:ext>
              </a:extLst>
            </p:cNvPr>
            <p:cNvSpPr/>
            <p:nvPr/>
          </p:nvSpPr>
          <p:spPr>
            <a:xfrm>
              <a:off x="4818888" y="1444752"/>
              <a:ext cx="292608" cy="292608"/>
            </a:xfrm>
            <a:prstGeom prst="ellipse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41" name="Text 8">
              <a:extLst>
                <a:ext uri="{FF2B5EF4-FFF2-40B4-BE49-F238E27FC236}">
                  <a16:creationId xmlns:a16="http://schemas.microsoft.com/office/drawing/2014/main" id="{66DDA781-F56C-9ACB-C159-C66C104D2E61}"/>
                </a:ext>
              </a:extLst>
            </p:cNvPr>
            <p:cNvSpPr/>
            <p:nvPr/>
          </p:nvSpPr>
          <p:spPr>
            <a:xfrm>
              <a:off x="5212080" y="118872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276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Réseaux sociaux nocifs</a:t>
              </a:r>
              <a:endParaRPr lang="en-US" sz="1300" dirty="0"/>
            </a:p>
          </p:txBody>
        </p:sp>
        <p:sp>
          <p:nvSpPr>
            <p:cNvPr id="42" name="Text 9">
              <a:extLst>
                <a:ext uri="{FF2B5EF4-FFF2-40B4-BE49-F238E27FC236}">
                  <a16:creationId xmlns:a16="http://schemas.microsoft.com/office/drawing/2014/main" id="{DB0F41E8-44ED-C35C-8459-05C3322BF8BA}"/>
                </a:ext>
              </a:extLst>
            </p:cNvPr>
            <p:cNvSpPr/>
            <p:nvPr/>
          </p:nvSpPr>
          <p:spPr>
            <a:xfrm>
              <a:off x="5212080" y="1554480"/>
              <a:ext cx="356616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L'addiction aux réseaux sociaux expose les élèves à la violence en ligne et normalise les comportements agressifs.</a:t>
              </a:r>
              <a:endParaRPr lang="en-US" sz="1050" dirty="0"/>
            </a:p>
          </p:txBody>
        </p:sp>
      </p:grpSp>
      <p:sp>
        <p:nvSpPr>
          <p:cNvPr id="48" name="Text 1">
            <a:extLst>
              <a:ext uri="{FF2B5EF4-FFF2-40B4-BE49-F238E27FC236}">
                <a16:creationId xmlns:a16="http://schemas.microsoft.com/office/drawing/2014/main" id="{DEAA5AD9-47FC-1077-CDDA-51752E6629F1}"/>
              </a:ext>
            </a:extLst>
          </p:cNvPr>
          <p:cNvSpPr/>
          <p:nvPr/>
        </p:nvSpPr>
        <p:spPr>
          <a:xfrm>
            <a:off x="274320" y="-978408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CAUSES DE LA VIOLENCE SCOLAIRE</a:t>
            </a:r>
            <a:endParaRPr lang="en-US" sz="22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A150964-237C-DA7F-2A1D-1877A63AF31A}"/>
              </a:ext>
            </a:extLst>
          </p:cNvPr>
          <p:cNvGrpSpPr/>
          <p:nvPr/>
        </p:nvGrpSpPr>
        <p:grpSpPr>
          <a:xfrm>
            <a:off x="9427957" y="1005837"/>
            <a:ext cx="4160520" cy="3950208"/>
            <a:chOff x="320040" y="1005840"/>
            <a:chExt cx="4160520" cy="3950208"/>
          </a:xfrm>
        </p:grpSpPr>
        <p:sp>
          <p:nvSpPr>
            <p:cNvPr id="54" name="Shape 2">
              <a:extLst>
                <a:ext uri="{FF2B5EF4-FFF2-40B4-BE49-F238E27FC236}">
                  <a16:creationId xmlns:a16="http://schemas.microsoft.com/office/drawing/2014/main" id="{38A14B3B-2C60-79D8-BC35-55CE99FBD497}"/>
                </a:ext>
              </a:extLst>
            </p:cNvPr>
            <p:cNvSpPr/>
            <p:nvPr/>
          </p:nvSpPr>
          <p:spPr>
            <a:xfrm>
              <a:off x="320040" y="1005840"/>
              <a:ext cx="4160520" cy="475488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64C68A9-47CB-E677-B848-F0B73A377072}"/>
                </a:ext>
              </a:extLst>
            </p:cNvPr>
            <p:cNvGrpSpPr/>
            <p:nvPr/>
          </p:nvGrpSpPr>
          <p:grpSpPr>
            <a:xfrm>
              <a:off x="320040" y="1005840"/>
              <a:ext cx="4160520" cy="3950208"/>
              <a:chOff x="320040" y="1005840"/>
              <a:chExt cx="4160520" cy="3950208"/>
            </a:xfrm>
          </p:grpSpPr>
          <p:sp>
            <p:nvSpPr>
              <p:cNvPr id="56" name="Text 3">
                <a:extLst>
                  <a:ext uri="{FF2B5EF4-FFF2-40B4-BE49-F238E27FC236}">
                    <a16:creationId xmlns:a16="http://schemas.microsoft.com/office/drawing/2014/main" id="{83316009-7AA7-45F7-C2BD-2236A3E3E1A1}"/>
                  </a:ext>
                </a:extLst>
              </p:cNvPr>
              <p:cNvSpPr/>
              <p:nvPr/>
            </p:nvSpPr>
            <p:spPr>
              <a:xfrm>
                <a:off x="320040" y="1005840"/>
                <a:ext cx="4160520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Solutions Pratiques</a:t>
                </a:r>
                <a:endParaRPr lang="en-US" sz="1400" dirty="0"/>
              </a:p>
            </p:txBody>
          </p:sp>
          <p:sp>
            <p:nvSpPr>
              <p:cNvPr id="57" name="Shape 4">
                <a:extLst>
                  <a:ext uri="{FF2B5EF4-FFF2-40B4-BE49-F238E27FC236}">
                    <a16:creationId xmlns:a16="http://schemas.microsoft.com/office/drawing/2014/main" id="{90971181-C4CA-BE2C-09B1-B5547A391EDC}"/>
                  </a:ext>
                </a:extLst>
              </p:cNvPr>
              <p:cNvSpPr/>
              <p:nvPr/>
            </p:nvSpPr>
            <p:spPr>
              <a:xfrm>
                <a:off x="320040" y="1481328"/>
                <a:ext cx="4160520" cy="347472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101600" dist="25400" dir="81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58" name="Text 5">
                <a:extLst>
                  <a:ext uri="{FF2B5EF4-FFF2-40B4-BE49-F238E27FC236}">
                    <a16:creationId xmlns:a16="http://schemas.microsoft.com/office/drawing/2014/main" id="{6158368D-10B2-87E2-A4AF-0E0AE0C17478}"/>
                  </a:ext>
                </a:extLst>
              </p:cNvPr>
              <p:cNvSpPr/>
              <p:nvPr/>
            </p:nvSpPr>
            <p:spPr>
              <a:xfrm>
                <a:off x="457200" y="1572768"/>
                <a:ext cx="3886200" cy="3291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Programmes de médiation et sensibilisation entre élèves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Encadrement renforcé dans les espaces communs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Soutien psychologique pour les victimes et auteurs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Promotion du respect et de la tolérance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Ateliers de gestion des émotions et des conflits</a:t>
                </a:r>
                <a:endParaRPr lang="en-US" sz="1200" dirty="0"/>
              </a:p>
            </p:txBody>
          </p:sp>
        </p:grpSp>
      </p:grpSp>
      <p:sp>
        <p:nvSpPr>
          <p:cNvPr id="65" name="Text 1">
            <a:extLst>
              <a:ext uri="{FF2B5EF4-FFF2-40B4-BE49-F238E27FC236}">
                <a16:creationId xmlns:a16="http://schemas.microsoft.com/office/drawing/2014/main" id="{EB5E5F4D-61B9-8F6D-D9F4-B12C46669FA3}"/>
              </a:ext>
            </a:extLst>
          </p:cNvPr>
          <p:cNvSpPr/>
          <p:nvPr/>
        </p:nvSpPr>
        <p:spPr>
          <a:xfrm>
            <a:off x="270312" y="-966545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— SOLUTIONS</a:t>
            </a:r>
            <a:endParaRPr lang="en-US" sz="2400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C6B92EE-AC3E-F8CE-6741-58281C06BD91}"/>
              </a:ext>
            </a:extLst>
          </p:cNvPr>
          <p:cNvGrpSpPr/>
          <p:nvPr/>
        </p:nvGrpSpPr>
        <p:grpSpPr>
          <a:xfrm>
            <a:off x="9456824" y="1005840"/>
            <a:ext cx="4160520" cy="3950208"/>
            <a:chOff x="4800600" y="1005840"/>
            <a:chExt cx="4160520" cy="3950208"/>
          </a:xfrm>
        </p:grpSpPr>
        <p:sp>
          <p:nvSpPr>
            <p:cNvPr id="67" name="Shape 6">
              <a:extLst>
                <a:ext uri="{FF2B5EF4-FFF2-40B4-BE49-F238E27FC236}">
                  <a16:creationId xmlns:a16="http://schemas.microsoft.com/office/drawing/2014/main" id="{A1AB2CC2-011D-7DDB-C4CC-3A37911122D2}"/>
                </a:ext>
              </a:extLst>
            </p:cNvPr>
            <p:cNvSpPr/>
            <p:nvPr/>
          </p:nvSpPr>
          <p:spPr>
            <a:xfrm>
              <a:off x="4800600" y="1005840"/>
              <a:ext cx="4160520" cy="475488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859D8C6-3104-7A9E-C57F-6F0B73D48D55}"/>
                </a:ext>
              </a:extLst>
            </p:cNvPr>
            <p:cNvGrpSpPr/>
            <p:nvPr/>
          </p:nvGrpSpPr>
          <p:grpSpPr>
            <a:xfrm>
              <a:off x="4800600" y="1005840"/>
              <a:ext cx="4160520" cy="3950208"/>
              <a:chOff x="4800600" y="1005840"/>
              <a:chExt cx="4160520" cy="3950208"/>
            </a:xfrm>
          </p:grpSpPr>
          <p:sp>
            <p:nvSpPr>
              <p:cNvPr id="69" name="Text 7">
                <a:extLst>
                  <a:ext uri="{FF2B5EF4-FFF2-40B4-BE49-F238E27FC236}">
                    <a16:creationId xmlns:a16="http://schemas.microsoft.com/office/drawing/2014/main" id="{D17F9488-3314-CF45-F649-FF24B4C1A435}"/>
                  </a:ext>
                </a:extLst>
              </p:cNvPr>
              <p:cNvSpPr/>
              <p:nvPr/>
            </p:nvSpPr>
            <p:spPr>
              <a:xfrm>
                <a:off x="4800600" y="1005840"/>
                <a:ext cx="4160520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Mesures Politiques</a:t>
                </a:r>
                <a:endParaRPr lang="en-US" sz="1400" dirty="0"/>
              </a:p>
            </p:txBody>
          </p:sp>
          <p:sp>
            <p:nvSpPr>
              <p:cNvPr id="70" name="Shape 8">
                <a:extLst>
                  <a:ext uri="{FF2B5EF4-FFF2-40B4-BE49-F238E27FC236}">
                    <a16:creationId xmlns:a16="http://schemas.microsoft.com/office/drawing/2014/main" id="{369B9383-1502-EDFD-68AB-403C382297A4}"/>
                  </a:ext>
                </a:extLst>
              </p:cNvPr>
              <p:cNvSpPr/>
              <p:nvPr/>
            </p:nvSpPr>
            <p:spPr>
              <a:xfrm>
                <a:off x="4800600" y="1481328"/>
                <a:ext cx="4160520" cy="347472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101600" dist="25400" dir="81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71" name="Text 9">
                <a:extLst>
                  <a:ext uri="{FF2B5EF4-FFF2-40B4-BE49-F238E27FC236}">
                    <a16:creationId xmlns:a16="http://schemas.microsoft.com/office/drawing/2014/main" id="{6A7C85F8-B6C1-38F2-294D-A153263B9E03}"/>
                  </a:ext>
                </a:extLst>
              </p:cNvPr>
              <p:cNvSpPr/>
              <p:nvPr/>
            </p:nvSpPr>
            <p:spPr>
              <a:xfrm>
                <a:off x="4937760" y="1572768"/>
                <a:ext cx="3886200" cy="3291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Renforcement des lois contre la violence scolaire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Formation continue des enseignants et personnels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Partenariats entre écoles, familles et autorités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Investissement dans les ressources éducatives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Campagnes de sensibilisation nationales</a:t>
                </a:r>
                <a:endParaRPr lang="en-US" sz="1200"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— SOLUTIONS</a:t>
            </a:r>
            <a:endParaRPr lang="en-US" sz="2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AE7C11-D2D9-DC9F-B28B-4B714E9D4CC4}"/>
              </a:ext>
            </a:extLst>
          </p:cNvPr>
          <p:cNvGrpSpPr/>
          <p:nvPr/>
        </p:nvGrpSpPr>
        <p:grpSpPr>
          <a:xfrm>
            <a:off x="320040" y="1005840"/>
            <a:ext cx="4160520" cy="3950208"/>
            <a:chOff x="320040" y="1005840"/>
            <a:chExt cx="4160520" cy="3950208"/>
          </a:xfrm>
        </p:grpSpPr>
        <p:sp>
          <p:nvSpPr>
            <p:cNvPr id="4" name="Shape 2"/>
            <p:cNvSpPr/>
            <p:nvPr/>
          </p:nvSpPr>
          <p:spPr>
            <a:xfrm>
              <a:off x="320040" y="1005840"/>
              <a:ext cx="4160520" cy="475488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24C15D9-54C0-49FD-29B9-008928006294}"/>
                </a:ext>
              </a:extLst>
            </p:cNvPr>
            <p:cNvGrpSpPr/>
            <p:nvPr/>
          </p:nvGrpSpPr>
          <p:grpSpPr>
            <a:xfrm>
              <a:off x="320040" y="1005840"/>
              <a:ext cx="4160520" cy="3950208"/>
              <a:chOff x="320040" y="1005840"/>
              <a:chExt cx="4160520" cy="3950208"/>
            </a:xfrm>
          </p:grpSpPr>
          <p:sp>
            <p:nvSpPr>
              <p:cNvPr id="5" name="Text 3"/>
              <p:cNvSpPr/>
              <p:nvPr/>
            </p:nvSpPr>
            <p:spPr>
              <a:xfrm>
                <a:off x="320040" y="1005840"/>
                <a:ext cx="4160520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Solutions Pratiques</a:t>
                </a:r>
                <a:endParaRPr lang="en-US" sz="1400" dirty="0"/>
              </a:p>
            </p:txBody>
          </p:sp>
          <p:sp>
            <p:nvSpPr>
              <p:cNvPr id="6" name="Shape 4"/>
              <p:cNvSpPr/>
              <p:nvPr/>
            </p:nvSpPr>
            <p:spPr>
              <a:xfrm>
                <a:off x="320040" y="1481328"/>
                <a:ext cx="4160520" cy="347472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101600" dist="25400" dir="81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7" name="Text 5"/>
              <p:cNvSpPr/>
              <p:nvPr/>
            </p:nvSpPr>
            <p:spPr>
              <a:xfrm>
                <a:off x="457200" y="1572768"/>
                <a:ext cx="3886200" cy="3291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Programmes de médiation et sensibilisation entre élèves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Encadrement renforcé dans les espaces communs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Soutien psychologique pour les victimes et auteurs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Promotion du respect et de la tolérance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Ateliers de gestion des émotions et des conflits</a:t>
                </a:r>
                <a:endParaRPr lang="en-US" sz="1200" dirty="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3DE4636-8007-78B9-3AB1-53CE6AB630DE}"/>
              </a:ext>
            </a:extLst>
          </p:cNvPr>
          <p:cNvGrpSpPr/>
          <p:nvPr/>
        </p:nvGrpSpPr>
        <p:grpSpPr>
          <a:xfrm>
            <a:off x="4800600" y="1005840"/>
            <a:ext cx="4160520" cy="3950208"/>
            <a:chOff x="4800600" y="1005840"/>
            <a:chExt cx="4160520" cy="3950208"/>
          </a:xfrm>
        </p:grpSpPr>
        <p:sp>
          <p:nvSpPr>
            <p:cNvPr id="8" name="Shape 6"/>
            <p:cNvSpPr/>
            <p:nvPr/>
          </p:nvSpPr>
          <p:spPr>
            <a:xfrm>
              <a:off x="4800600" y="1005840"/>
              <a:ext cx="4160520" cy="475488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273F22C-3156-D063-2B4D-C24C246E2E4B}"/>
                </a:ext>
              </a:extLst>
            </p:cNvPr>
            <p:cNvGrpSpPr/>
            <p:nvPr/>
          </p:nvGrpSpPr>
          <p:grpSpPr>
            <a:xfrm>
              <a:off x="4800600" y="1005840"/>
              <a:ext cx="4160520" cy="3950208"/>
              <a:chOff x="4800600" y="1005840"/>
              <a:chExt cx="4160520" cy="3950208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4800600" y="1005840"/>
                <a:ext cx="4160520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Mesures Politiques</a:t>
                </a:r>
                <a:endParaRPr lang="en-US" sz="1400" dirty="0"/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4800600" y="1481328"/>
                <a:ext cx="4160520" cy="347472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101600" dist="25400" dir="81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11" name="Text 9"/>
              <p:cNvSpPr/>
              <p:nvPr/>
            </p:nvSpPr>
            <p:spPr>
              <a:xfrm>
                <a:off x="4937760" y="1572768"/>
                <a:ext cx="3886200" cy="3291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Renforcement des lois contre la violence scolaire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Formation continue des enseignants et personnels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Partenariats entre écoles, familles et autorités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Investissement dans les ressources éducatives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Campagnes de sensibilisation nationales</a:t>
                </a:r>
                <a:endParaRPr lang="en-US" sz="1200" dirty="0"/>
              </a:p>
            </p:txBody>
          </p:sp>
        </p:grpSp>
      </p:grpSp>
      <p:sp>
        <p:nvSpPr>
          <p:cNvPr id="16" name="Text 1">
            <a:extLst>
              <a:ext uri="{FF2B5EF4-FFF2-40B4-BE49-F238E27FC236}">
                <a16:creationId xmlns:a16="http://schemas.microsoft.com/office/drawing/2014/main" id="{398A147C-6E4E-9F95-1826-F5D24D574019}"/>
              </a:ext>
            </a:extLst>
          </p:cNvPr>
          <p:cNvSpPr/>
          <p:nvPr/>
        </p:nvSpPr>
        <p:spPr>
          <a:xfrm>
            <a:off x="-3832466" y="8021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— CONSÉQUENCES</a:t>
            </a:r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747AA7A-F6DC-FF85-4BE5-43B96FA350F5}"/>
              </a:ext>
            </a:extLst>
          </p:cNvPr>
          <p:cNvGrpSpPr/>
          <p:nvPr/>
        </p:nvGrpSpPr>
        <p:grpSpPr>
          <a:xfrm>
            <a:off x="-3113784" y="1005840"/>
            <a:ext cx="2743200" cy="3858768"/>
            <a:chOff x="3154680" y="1005840"/>
            <a:chExt cx="2743200" cy="3858768"/>
          </a:xfrm>
        </p:grpSpPr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D7ACF907-3189-1397-B96C-F1488347F508}"/>
                </a:ext>
              </a:extLst>
            </p:cNvPr>
            <p:cNvSpPr/>
            <p:nvPr/>
          </p:nvSpPr>
          <p:spPr>
            <a:xfrm>
              <a:off x="3154680" y="1005840"/>
              <a:ext cx="2743200" cy="475488"/>
            </a:xfrm>
            <a:prstGeom prst="rect">
              <a:avLst/>
            </a:prstGeom>
            <a:solidFill>
              <a:srgbClr val="1A6B8A"/>
            </a:solidFill>
            <a:ln w="12700">
              <a:solidFill>
                <a:srgbClr val="1A6B8A"/>
              </a:solidFill>
              <a:prstDash val="solid"/>
            </a:ln>
          </p:spPr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E10F350A-4323-59F1-CEB1-67009072CAF9}"/>
                </a:ext>
              </a:extLst>
            </p:cNvPr>
            <p:cNvSpPr/>
            <p:nvPr/>
          </p:nvSpPr>
          <p:spPr>
            <a:xfrm>
              <a:off x="3154680" y="1005840"/>
              <a:ext cx="2743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Sur la famille</a:t>
              </a:r>
              <a:endParaRPr lang="en-US" sz="1300" dirty="0"/>
            </a:p>
          </p:txBody>
        </p:sp>
        <p:sp>
          <p:nvSpPr>
            <p:cNvPr id="20" name="Shape 8">
              <a:extLst>
                <a:ext uri="{FF2B5EF4-FFF2-40B4-BE49-F238E27FC236}">
                  <a16:creationId xmlns:a16="http://schemas.microsoft.com/office/drawing/2014/main" id="{180E9BF4-910A-2F38-4AA3-5331257BD559}"/>
                </a:ext>
              </a:extLst>
            </p:cNvPr>
            <p:cNvSpPr/>
            <p:nvPr/>
          </p:nvSpPr>
          <p:spPr>
            <a:xfrm>
              <a:off x="3154680" y="1481328"/>
              <a:ext cx="2743200" cy="33832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77D4C296-27D9-51D2-2BDA-64CC0921193F}"/>
                </a:ext>
              </a:extLst>
            </p:cNvPr>
            <p:cNvSpPr/>
            <p:nvPr/>
          </p:nvSpPr>
          <p:spPr>
            <a:xfrm>
              <a:off x="3246120" y="1554480"/>
              <a:ext cx="2560320" cy="3200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Stress et inquiétude parentale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Coûts sociaux et médicaux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Dégradation des relations familiales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Sentiment d'impuissance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EA113CA-EEF7-B66C-1BEF-7B01DC843AB8}"/>
              </a:ext>
            </a:extLst>
          </p:cNvPr>
          <p:cNvGrpSpPr/>
          <p:nvPr/>
        </p:nvGrpSpPr>
        <p:grpSpPr>
          <a:xfrm>
            <a:off x="-3108975" y="1005840"/>
            <a:ext cx="2743200" cy="3858768"/>
            <a:chOff x="6035040" y="1005840"/>
            <a:chExt cx="2743200" cy="3858768"/>
          </a:xfrm>
        </p:grpSpPr>
        <p:sp>
          <p:nvSpPr>
            <p:cNvPr id="23" name="Shape 10">
              <a:extLst>
                <a:ext uri="{FF2B5EF4-FFF2-40B4-BE49-F238E27FC236}">
                  <a16:creationId xmlns:a16="http://schemas.microsoft.com/office/drawing/2014/main" id="{FB981AFB-F2D8-F38D-7476-3E2C2C9CB944}"/>
                </a:ext>
              </a:extLst>
            </p:cNvPr>
            <p:cNvSpPr/>
            <p:nvPr/>
          </p:nvSpPr>
          <p:spPr>
            <a:xfrm>
              <a:off x="6035040" y="1005840"/>
              <a:ext cx="2743200" cy="475488"/>
            </a:xfrm>
            <a:prstGeom prst="rect">
              <a:avLst/>
            </a:prstGeom>
            <a:solidFill>
              <a:srgbClr val="2C7A3C"/>
            </a:solidFill>
            <a:ln w="12700">
              <a:solidFill>
                <a:srgbClr val="2C7A3C"/>
              </a:solidFill>
              <a:prstDash val="solid"/>
            </a:ln>
          </p:spPr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F95C5AAD-2F4F-AB74-0B31-45C8C09848D5}"/>
                </a:ext>
              </a:extLst>
            </p:cNvPr>
            <p:cNvSpPr/>
            <p:nvPr/>
          </p:nvSpPr>
          <p:spPr>
            <a:xfrm>
              <a:off x="6035040" y="1005840"/>
              <a:ext cx="2743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Sur l'école</a:t>
              </a:r>
              <a:endParaRPr lang="en-US" sz="1300" dirty="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90330531-060A-7843-0AA1-3112D17034FF}"/>
                </a:ext>
              </a:extLst>
            </p:cNvPr>
            <p:cNvSpPr/>
            <p:nvPr/>
          </p:nvSpPr>
          <p:spPr>
            <a:xfrm>
              <a:off x="6035040" y="1481328"/>
              <a:ext cx="2743200" cy="33832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F10D7528-D6AC-962D-0A18-D6EF3DE88304}"/>
                </a:ext>
              </a:extLst>
            </p:cNvPr>
            <p:cNvSpPr/>
            <p:nvPr/>
          </p:nvSpPr>
          <p:spPr>
            <a:xfrm>
              <a:off x="6126480" y="1554480"/>
              <a:ext cx="2560320" cy="3200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Climat scolaire détérioré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Démotivation des enseignants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 négative de l'établissement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Baisse des performances globales</a:t>
              </a:r>
              <a:endParaRPr lang="en-US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ED21A7-ADFF-5468-6EF8-7F4647E9313D}"/>
              </a:ext>
            </a:extLst>
          </p:cNvPr>
          <p:cNvGrpSpPr/>
          <p:nvPr/>
        </p:nvGrpSpPr>
        <p:grpSpPr>
          <a:xfrm>
            <a:off x="-3118587" y="1005840"/>
            <a:ext cx="2743200" cy="3858768"/>
            <a:chOff x="274320" y="1005840"/>
            <a:chExt cx="2743200" cy="3858768"/>
          </a:xfrm>
        </p:grpSpPr>
        <p:sp>
          <p:nvSpPr>
            <p:cNvPr id="28" name="Shape 2">
              <a:extLst>
                <a:ext uri="{FF2B5EF4-FFF2-40B4-BE49-F238E27FC236}">
                  <a16:creationId xmlns:a16="http://schemas.microsoft.com/office/drawing/2014/main" id="{64448633-3F9E-8E89-FF2D-435EA1EE52FA}"/>
                </a:ext>
              </a:extLst>
            </p:cNvPr>
            <p:cNvSpPr/>
            <p:nvPr/>
          </p:nvSpPr>
          <p:spPr>
            <a:xfrm>
              <a:off x="274320" y="1005840"/>
              <a:ext cx="2743200" cy="475488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sp>
          <p:nvSpPr>
            <p:cNvPr id="29" name="Text 3">
              <a:extLst>
                <a:ext uri="{FF2B5EF4-FFF2-40B4-BE49-F238E27FC236}">
                  <a16:creationId xmlns:a16="http://schemas.microsoft.com/office/drawing/2014/main" id="{4A83C0EF-43DF-47E7-C69F-489F8FC203F1}"/>
                </a:ext>
              </a:extLst>
            </p:cNvPr>
            <p:cNvSpPr/>
            <p:nvPr/>
          </p:nvSpPr>
          <p:spPr>
            <a:xfrm>
              <a:off x="274320" y="1005840"/>
              <a:ext cx="27432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Sur les élèves</a:t>
              </a:r>
              <a:endParaRPr lang="en-US" sz="1300" dirty="0"/>
            </a:p>
          </p:txBody>
        </p:sp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DBBBFD74-16FE-143B-ECCF-AE22781316A3}"/>
                </a:ext>
              </a:extLst>
            </p:cNvPr>
            <p:cNvSpPr/>
            <p:nvPr/>
          </p:nvSpPr>
          <p:spPr>
            <a:xfrm>
              <a:off x="274320" y="1481328"/>
              <a:ext cx="2743200" cy="338328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7EA4C6AE-67A4-E3C0-FF38-7015340E82AB}"/>
                </a:ext>
              </a:extLst>
            </p:cNvPr>
            <p:cNvSpPr/>
            <p:nvPr/>
          </p:nvSpPr>
          <p:spPr>
            <a:xfrm>
              <a:off x="365760" y="1554480"/>
              <a:ext cx="2560320" cy="3200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Traumatismes psychologiques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Chute des résultats scolaires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Dépression et anxiété</a:t>
              </a:r>
              <a:endParaRPr lang="en-US" sz="1200" dirty="0"/>
            </a:p>
            <a:p>
              <a:pPr marL="342900" indent="-342900">
                <a:buSzPct val="100000"/>
                <a:buChar char="•"/>
              </a:pPr>
              <a:r>
                <a:rPr lang="en-US" sz="12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Absentéisme et décrochage</a:t>
              </a:r>
              <a:endParaRPr lang="en-US" sz="1200" dirty="0"/>
            </a:p>
          </p:txBody>
        </p:sp>
      </p:grpSp>
      <p:sp>
        <p:nvSpPr>
          <p:cNvPr id="32" name="Shape 0">
            <a:extLst>
              <a:ext uri="{FF2B5EF4-FFF2-40B4-BE49-F238E27FC236}">
                <a16:creationId xmlns:a16="http://schemas.microsoft.com/office/drawing/2014/main" id="{A9DEF983-395F-37E8-A38D-7EFD98782324}"/>
              </a:ext>
            </a:extLst>
          </p:cNvPr>
          <p:cNvSpPr/>
          <p:nvPr/>
        </p:nvSpPr>
        <p:spPr>
          <a:xfrm>
            <a:off x="0" y="5149525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1D483E2-FFA0-4D25-83B3-F75B2507E841}"/>
              </a:ext>
            </a:extLst>
          </p:cNvPr>
          <p:cNvGrpSpPr/>
          <p:nvPr/>
        </p:nvGrpSpPr>
        <p:grpSpPr>
          <a:xfrm>
            <a:off x="9218599" y="1188720"/>
            <a:ext cx="2651760" cy="3474720"/>
            <a:chOff x="6126480" y="1188720"/>
            <a:chExt cx="2651760" cy="3474720"/>
          </a:xfrm>
        </p:grpSpPr>
        <p:sp>
          <p:nvSpPr>
            <p:cNvPr id="34" name="Shape 5">
              <a:extLst>
                <a:ext uri="{FF2B5EF4-FFF2-40B4-BE49-F238E27FC236}">
                  <a16:creationId xmlns:a16="http://schemas.microsoft.com/office/drawing/2014/main" id="{E477186B-47E1-10A6-0DE6-E18DA2FDBDE5}"/>
                </a:ext>
              </a:extLst>
            </p:cNvPr>
            <p:cNvSpPr/>
            <p:nvPr/>
          </p:nvSpPr>
          <p:spPr>
            <a:xfrm>
              <a:off x="6126480" y="1188720"/>
              <a:ext cx="2651760" cy="3474720"/>
            </a:xfrm>
            <a:prstGeom prst="rect">
              <a:avLst/>
            </a:prstGeom>
            <a:solidFill>
              <a:srgbClr val="990011"/>
            </a:solidFill>
            <a:ln/>
            <a:effectLst>
              <a:outerShdw blurRad="127000" dist="38100" dir="81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AA960F83-D3DA-084E-FD62-C4FFA41D4A63}"/>
                </a:ext>
              </a:extLst>
            </p:cNvPr>
            <p:cNvSpPr/>
            <p:nvPr/>
          </p:nvSpPr>
          <p:spPr>
            <a:xfrm>
              <a:off x="6126480" y="1280160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À RETENIR</a:t>
              </a:r>
              <a:endParaRPr lang="en-US" sz="13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E47F1D40-547E-2853-3078-E817F8DC3AD7}"/>
                </a:ext>
              </a:extLst>
            </p:cNvPr>
            <p:cNvSpPr/>
            <p:nvPr/>
          </p:nvSpPr>
          <p:spPr>
            <a:xfrm>
              <a:off x="6217920" y="1783080"/>
              <a:ext cx="2468880" cy="274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Éduquer, pas seulement punir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Impliquer les familles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Agir dès les premiers signes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Soutenir les victimes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Former les enseignants</a:t>
              </a:r>
              <a:endParaRPr lang="en-US" sz="115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70173B8-1F06-C631-35D6-60810BAF3A19}"/>
              </a:ext>
            </a:extLst>
          </p:cNvPr>
          <p:cNvGrpSpPr/>
          <p:nvPr/>
        </p:nvGrpSpPr>
        <p:grpSpPr>
          <a:xfrm>
            <a:off x="457200" y="-5250587"/>
            <a:ext cx="8229600" cy="4709160"/>
            <a:chOff x="457200" y="320040"/>
            <a:chExt cx="8229600" cy="4709160"/>
          </a:xfrm>
        </p:grpSpPr>
        <p:sp>
          <p:nvSpPr>
            <p:cNvPr id="38" name="Text 1">
              <a:extLst>
                <a:ext uri="{FF2B5EF4-FFF2-40B4-BE49-F238E27FC236}">
                  <a16:creationId xmlns:a16="http://schemas.microsoft.com/office/drawing/2014/main" id="{336FDC88-DAAF-1BA0-BE74-66AA33C0C02A}"/>
                </a:ext>
              </a:extLst>
            </p:cNvPr>
            <p:cNvSpPr/>
            <p:nvPr/>
          </p:nvSpPr>
          <p:spPr>
            <a:xfrm>
              <a:off x="457200" y="320040"/>
              <a:ext cx="82296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 — AVIS PERSONNEL</a:t>
              </a:r>
              <a:endParaRPr lang="en-US" sz="1400" dirty="0"/>
            </a:p>
          </p:txBody>
        </p:sp>
        <p:sp>
          <p:nvSpPr>
            <p:cNvPr id="39" name="Text 2">
              <a:extLst>
                <a:ext uri="{FF2B5EF4-FFF2-40B4-BE49-F238E27FC236}">
                  <a16:creationId xmlns:a16="http://schemas.microsoft.com/office/drawing/2014/main" id="{3002F63D-60B9-CDFA-9B8E-3FBFEB2D4D18}"/>
                </a:ext>
              </a:extLst>
            </p:cNvPr>
            <p:cNvSpPr/>
            <p:nvPr/>
          </p:nvSpPr>
          <p:spPr>
            <a:xfrm>
              <a:off x="457200" y="914400"/>
              <a:ext cx="8229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Notre conclusion</a:t>
              </a:r>
              <a:endParaRPr lang="en-US" sz="3400" dirty="0"/>
            </a:p>
          </p:txBody>
        </p:sp>
        <p:sp>
          <p:nvSpPr>
            <p:cNvPr id="40" name="Text 3">
              <a:extLst>
                <a:ext uri="{FF2B5EF4-FFF2-40B4-BE49-F238E27FC236}">
                  <a16:creationId xmlns:a16="http://schemas.microsoft.com/office/drawing/2014/main" id="{6E43EF19-CD74-8AC3-CC6C-2FD499DB5671}"/>
                </a:ext>
              </a:extLst>
            </p:cNvPr>
            <p:cNvSpPr/>
            <p:nvPr/>
          </p:nvSpPr>
          <p:spPr>
            <a:xfrm>
              <a:off x="457200" y="1828800"/>
              <a:ext cx="530352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violence scolaire est un problème grave qui nécessite l'engagement collectif de toute la société. Il ne suffit pas de punir — il faut comprendre, prévenir et accompagner.</a:t>
              </a:r>
              <a:endParaRPr lang="en-US" sz="1500" dirty="0"/>
            </a:p>
          </p:txBody>
        </p:sp>
        <p:sp>
          <p:nvSpPr>
            <p:cNvPr id="41" name="Text 4">
              <a:extLst>
                <a:ext uri="{FF2B5EF4-FFF2-40B4-BE49-F238E27FC236}">
                  <a16:creationId xmlns:a16="http://schemas.microsoft.com/office/drawing/2014/main" id="{D0C3BB07-F0E1-C10A-1BCE-7C81602A2497}"/>
                </a:ext>
              </a:extLst>
            </p:cNvPr>
            <p:cNvSpPr/>
            <p:nvPr/>
          </p:nvSpPr>
          <p:spPr>
            <a:xfrm>
              <a:off x="457200" y="3291840"/>
              <a:ext cx="53035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Chaque élève a le droit d'apprendre dans un environnement sûr, bienveillant et respectueux.</a:t>
              </a:r>
              <a:endParaRPr lang="en-US" sz="13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E9B142E7-DE6C-944B-98B2-F0CA363F3E30}"/>
                </a:ext>
              </a:extLst>
            </p:cNvPr>
            <p:cNvSpPr/>
            <p:nvPr/>
          </p:nvSpPr>
          <p:spPr>
            <a:xfrm>
              <a:off x="457200" y="4663440"/>
              <a:ext cx="5486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Merci de votre attention</a:t>
              </a:r>
              <a:endParaRPr lang="en-US" sz="12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D357B-A1BF-7816-2629-E2145D3D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7E0F8F-1B2E-5289-CB17-F71AC036BEB3}"/>
              </a:ext>
            </a:extLst>
          </p:cNvPr>
          <p:cNvSpPr/>
          <p:nvPr/>
        </p:nvSpPr>
        <p:spPr>
          <a:xfrm>
            <a:off x="-9649339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E0CEC3-E9F2-9F85-81A5-F9DCF974FCBC}"/>
              </a:ext>
            </a:extLst>
          </p:cNvPr>
          <p:cNvSpPr/>
          <p:nvPr/>
        </p:nvSpPr>
        <p:spPr>
          <a:xfrm>
            <a:off x="-9375019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— SOLUTIONS</a:t>
            </a:r>
            <a:endParaRPr lang="en-US" sz="2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6C72D6-7A99-482F-C644-B1193C16E85F}"/>
              </a:ext>
            </a:extLst>
          </p:cNvPr>
          <p:cNvGrpSpPr/>
          <p:nvPr/>
        </p:nvGrpSpPr>
        <p:grpSpPr>
          <a:xfrm>
            <a:off x="320040" y="5349243"/>
            <a:ext cx="4160520" cy="3950208"/>
            <a:chOff x="320040" y="1005840"/>
            <a:chExt cx="4160520" cy="3950208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9DBB5324-C1A8-BF3A-5384-2912A7448AE7}"/>
                </a:ext>
              </a:extLst>
            </p:cNvPr>
            <p:cNvSpPr/>
            <p:nvPr/>
          </p:nvSpPr>
          <p:spPr>
            <a:xfrm>
              <a:off x="320040" y="1005840"/>
              <a:ext cx="4160520" cy="475488"/>
            </a:xfrm>
            <a:prstGeom prst="rect">
              <a:avLst/>
            </a:prstGeom>
            <a:solidFill>
              <a:srgbClr val="990011"/>
            </a:solidFill>
            <a:ln w="12700">
              <a:solidFill>
                <a:srgbClr val="990011"/>
              </a:solidFill>
              <a:prstDash val="solid"/>
            </a:ln>
          </p:spPr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C821D6D-0CF8-2FE4-F139-EFBC707F6142}"/>
                </a:ext>
              </a:extLst>
            </p:cNvPr>
            <p:cNvGrpSpPr/>
            <p:nvPr/>
          </p:nvGrpSpPr>
          <p:grpSpPr>
            <a:xfrm>
              <a:off x="320040" y="1005840"/>
              <a:ext cx="4160520" cy="3950208"/>
              <a:chOff x="320040" y="1005840"/>
              <a:chExt cx="4160520" cy="3950208"/>
            </a:xfrm>
          </p:grpSpPr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BEEF783F-BD16-0032-2F24-7FBE16D0139D}"/>
                  </a:ext>
                </a:extLst>
              </p:cNvPr>
              <p:cNvSpPr/>
              <p:nvPr/>
            </p:nvSpPr>
            <p:spPr>
              <a:xfrm>
                <a:off x="320040" y="1005840"/>
                <a:ext cx="4160520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Solutions Pratiques</a:t>
                </a:r>
                <a:endParaRPr lang="en-US" sz="1400" dirty="0"/>
              </a:p>
            </p:txBody>
          </p:sp>
          <p:sp>
            <p:nvSpPr>
              <p:cNvPr id="6" name="Shape 4">
                <a:extLst>
                  <a:ext uri="{FF2B5EF4-FFF2-40B4-BE49-F238E27FC236}">
                    <a16:creationId xmlns:a16="http://schemas.microsoft.com/office/drawing/2014/main" id="{9D65A665-90B8-EB10-C60F-95F59E24CCE5}"/>
                  </a:ext>
                </a:extLst>
              </p:cNvPr>
              <p:cNvSpPr/>
              <p:nvPr/>
            </p:nvSpPr>
            <p:spPr>
              <a:xfrm>
                <a:off x="320040" y="1481328"/>
                <a:ext cx="4160520" cy="347472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101600" dist="25400" dir="81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E6FF8536-C2F4-D896-1D35-C1FA8ADCBCFA}"/>
                  </a:ext>
                </a:extLst>
              </p:cNvPr>
              <p:cNvSpPr/>
              <p:nvPr/>
            </p:nvSpPr>
            <p:spPr>
              <a:xfrm>
                <a:off x="457200" y="1572768"/>
                <a:ext cx="3886200" cy="3291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Programmes de médiation et sensibilisation entre élèves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Encadrement renforcé dans les espaces communs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Soutien psychologique pour les victimes et auteurs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Promotion du respect et de la tolérance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Ateliers de gestion des émotions et des conflits</a:t>
                </a:r>
                <a:endParaRPr lang="en-US" sz="1200" dirty="0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43D6BF-4A69-180D-5F0A-258C5C315525}"/>
              </a:ext>
            </a:extLst>
          </p:cNvPr>
          <p:cNvGrpSpPr/>
          <p:nvPr/>
        </p:nvGrpSpPr>
        <p:grpSpPr>
          <a:xfrm>
            <a:off x="4800600" y="5349247"/>
            <a:ext cx="4160520" cy="3950208"/>
            <a:chOff x="4800600" y="1005840"/>
            <a:chExt cx="4160520" cy="3950208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A2207EEE-5591-1786-F324-888922ABBCEB}"/>
                </a:ext>
              </a:extLst>
            </p:cNvPr>
            <p:cNvSpPr/>
            <p:nvPr/>
          </p:nvSpPr>
          <p:spPr>
            <a:xfrm>
              <a:off x="4800600" y="1005840"/>
              <a:ext cx="4160520" cy="475488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5F27EAB-E231-28E3-E2A5-4546622924A1}"/>
                </a:ext>
              </a:extLst>
            </p:cNvPr>
            <p:cNvGrpSpPr/>
            <p:nvPr/>
          </p:nvGrpSpPr>
          <p:grpSpPr>
            <a:xfrm>
              <a:off x="4800600" y="1005840"/>
              <a:ext cx="4160520" cy="3950208"/>
              <a:chOff x="4800600" y="1005840"/>
              <a:chExt cx="4160520" cy="3950208"/>
            </a:xfrm>
          </p:grpSpPr>
          <p:sp>
            <p:nvSpPr>
              <p:cNvPr id="9" name="Text 7">
                <a:extLst>
                  <a:ext uri="{FF2B5EF4-FFF2-40B4-BE49-F238E27FC236}">
                    <a16:creationId xmlns:a16="http://schemas.microsoft.com/office/drawing/2014/main" id="{F26CC32C-DD09-1B6B-0427-74280E29F1D3}"/>
                  </a:ext>
                </a:extLst>
              </p:cNvPr>
              <p:cNvSpPr/>
              <p:nvPr/>
            </p:nvSpPr>
            <p:spPr>
              <a:xfrm>
                <a:off x="4800600" y="1005840"/>
                <a:ext cx="4160520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Mesures Politiques</a:t>
                </a:r>
                <a:endParaRPr lang="en-US" sz="1400" dirty="0"/>
              </a:p>
            </p:txBody>
          </p:sp>
          <p:sp>
            <p:nvSpPr>
              <p:cNvPr id="10" name="Shape 8">
                <a:extLst>
                  <a:ext uri="{FF2B5EF4-FFF2-40B4-BE49-F238E27FC236}">
                    <a16:creationId xmlns:a16="http://schemas.microsoft.com/office/drawing/2014/main" id="{1D34E43E-603F-EECC-FB13-2999BE1878FF}"/>
                  </a:ext>
                </a:extLst>
              </p:cNvPr>
              <p:cNvSpPr/>
              <p:nvPr/>
            </p:nvSpPr>
            <p:spPr>
              <a:xfrm>
                <a:off x="4800600" y="1481328"/>
                <a:ext cx="4160520" cy="347472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101600" dist="25400" dir="81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11" name="Text 9">
                <a:extLst>
                  <a:ext uri="{FF2B5EF4-FFF2-40B4-BE49-F238E27FC236}">
                    <a16:creationId xmlns:a16="http://schemas.microsoft.com/office/drawing/2014/main" id="{F2F776AC-BF8F-42C6-C09B-B1E8C7497854}"/>
                  </a:ext>
                </a:extLst>
              </p:cNvPr>
              <p:cNvSpPr/>
              <p:nvPr/>
            </p:nvSpPr>
            <p:spPr>
              <a:xfrm>
                <a:off x="4937760" y="1572768"/>
                <a:ext cx="3886200" cy="3291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Renforcement des lois contre la violence scolaire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Formation continue des enseignants et personnels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Partenariats entre écoles, familles et autorités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Investissement dans les ressources éducatives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2D37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Campagnes de sensibilisation nationales</a:t>
                </a:r>
                <a:endParaRPr lang="en-US" sz="1200" dirty="0"/>
              </a:p>
            </p:txBody>
          </p:sp>
        </p:grpSp>
      </p:grpSp>
      <p:sp>
        <p:nvSpPr>
          <p:cNvPr id="32" name="Shape 0">
            <a:extLst>
              <a:ext uri="{FF2B5EF4-FFF2-40B4-BE49-F238E27FC236}">
                <a16:creationId xmlns:a16="http://schemas.microsoft.com/office/drawing/2014/main" id="{D78D5C6D-C9ED-1E7F-3534-8464F821074B}"/>
              </a:ext>
            </a:extLst>
          </p:cNvPr>
          <p:cNvSpPr/>
          <p:nvPr/>
        </p:nvSpPr>
        <p:spPr>
          <a:xfrm>
            <a:off x="0" y="5149525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44FCE79-C022-64C7-BE1D-C89CB4425191}"/>
              </a:ext>
            </a:extLst>
          </p:cNvPr>
          <p:cNvGrpSpPr/>
          <p:nvPr/>
        </p:nvGrpSpPr>
        <p:grpSpPr>
          <a:xfrm>
            <a:off x="9218599" y="1188720"/>
            <a:ext cx="2651760" cy="3474720"/>
            <a:chOff x="6126480" y="1188720"/>
            <a:chExt cx="2651760" cy="3474720"/>
          </a:xfrm>
        </p:grpSpPr>
        <p:sp>
          <p:nvSpPr>
            <p:cNvPr id="34" name="Shape 5">
              <a:extLst>
                <a:ext uri="{FF2B5EF4-FFF2-40B4-BE49-F238E27FC236}">
                  <a16:creationId xmlns:a16="http://schemas.microsoft.com/office/drawing/2014/main" id="{520BEF3C-BA1F-D626-8C9E-E1CE3A0FB5BB}"/>
                </a:ext>
              </a:extLst>
            </p:cNvPr>
            <p:cNvSpPr/>
            <p:nvPr/>
          </p:nvSpPr>
          <p:spPr>
            <a:xfrm>
              <a:off x="6126480" y="1188720"/>
              <a:ext cx="2651760" cy="3474720"/>
            </a:xfrm>
            <a:prstGeom prst="rect">
              <a:avLst/>
            </a:prstGeom>
            <a:solidFill>
              <a:srgbClr val="990011"/>
            </a:solidFill>
            <a:ln/>
            <a:effectLst>
              <a:outerShdw blurRad="127000" dist="38100" dir="81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7C71B8D7-CB65-525B-B52C-5FB07405D302}"/>
                </a:ext>
              </a:extLst>
            </p:cNvPr>
            <p:cNvSpPr/>
            <p:nvPr/>
          </p:nvSpPr>
          <p:spPr>
            <a:xfrm>
              <a:off x="6126480" y="1280160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À RETENIR</a:t>
              </a:r>
              <a:endParaRPr lang="en-US" sz="1300" dirty="0"/>
            </a:p>
          </p:txBody>
        </p:sp>
        <p:sp>
          <p:nvSpPr>
            <p:cNvPr id="36" name="Text 7">
              <a:extLst>
                <a:ext uri="{FF2B5EF4-FFF2-40B4-BE49-F238E27FC236}">
                  <a16:creationId xmlns:a16="http://schemas.microsoft.com/office/drawing/2014/main" id="{C3357D68-0980-3AAF-C56A-FEEAA92B2E29}"/>
                </a:ext>
              </a:extLst>
            </p:cNvPr>
            <p:cNvSpPr/>
            <p:nvPr/>
          </p:nvSpPr>
          <p:spPr>
            <a:xfrm>
              <a:off x="6217920" y="1783080"/>
              <a:ext cx="2468880" cy="274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Éduquer, pas seulement punir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Impliquer les familles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Agir dès les premiers signes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Soutenir les victimes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Former les enseignants</a:t>
              </a:r>
              <a:endParaRPr lang="en-US" sz="115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CFF9B4A-A816-5CE9-E993-203E004BFDCA}"/>
              </a:ext>
            </a:extLst>
          </p:cNvPr>
          <p:cNvGrpSpPr/>
          <p:nvPr/>
        </p:nvGrpSpPr>
        <p:grpSpPr>
          <a:xfrm>
            <a:off x="457200" y="-5250587"/>
            <a:ext cx="8229600" cy="4709160"/>
            <a:chOff x="457200" y="320040"/>
            <a:chExt cx="8229600" cy="4709160"/>
          </a:xfrm>
        </p:grpSpPr>
        <p:sp>
          <p:nvSpPr>
            <p:cNvPr id="38" name="Text 1">
              <a:extLst>
                <a:ext uri="{FF2B5EF4-FFF2-40B4-BE49-F238E27FC236}">
                  <a16:creationId xmlns:a16="http://schemas.microsoft.com/office/drawing/2014/main" id="{6D61695B-109E-56A3-307F-527D72429E54}"/>
                </a:ext>
              </a:extLst>
            </p:cNvPr>
            <p:cNvSpPr/>
            <p:nvPr/>
          </p:nvSpPr>
          <p:spPr>
            <a:xfrm>
              <a:off x="457200" y="320040"/>
              <a:ext cx="82296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 — AVIS PERSONNEL</a:t>
              </a:r>
              <a:endParaRPr lang="en-US" sz="1400" dirty="0"/>
            </a:p>
          </p:txBody>
        </p:sp>
        <p:sp>
          <p:nvSpPr>
            <p:cNvPr id="39" name="Text 2">
              <a:extLst>
                <a:ext uri="{FF2B5EF4-FFF2-40B4-BE49-F238E27FC236}">
                  <a16:creationId xmlns:a16="http://schemas.microsoft.com/office/drawing/2014/main" id="{709ABF2A-3270-7B69-649F-4403D9B16205}"/>
                </a:ext>
              </a:extLst>
            </p:cNvPr>
            <p:cNvSpPr/>
            <p:nvPr/>
          </p:nvSpPr>
          <p:spPr>
            <a:xfrm>
              <a:off x="457200" y="914400"/>
              <a:ext cx="8229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Notre conclusion</a:t>
              </a:r>
              <a:endParaRPr lang="en-US" sz="3400" dirty="0"/>
            </a:p>
          </p:txBody>
        </p:sp>
        <p:sp>
          <p:nvSpPr>
            <p:cNvPr id="40" name="Text 3">
              <a:extLst>
                <a:ext uri="{FF2B5EF4-FFF2-40B4-BE49-F238E27FC236}">
                  <a16:creationId xmlns:a16="http://schemas.microsoft.com/office/drawing/2014/main" id="{2B808CE2-B1E6-5678-C5CA-E534BC6D37C5}"/>
                </a:ext>
              </a:extLst>
            </p:cNvPr>
            <p:cNvSpPr/>
            <p:nvPr/>
          </p:nvSpPr>
          <p:spPr>
            <a:xfrm>
              <a:off x="457200" y="1828800"/>
              <a:ext cx="530352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violence scolaire est un problème grave qui nécessite l'engagement collectif de toute la société. Il ne suffit pas de punir — il faut comprendre, prévenir et accompagner.</a:t>
              </a:r>
              <a:endParaRPr lang="en-US" sz="1500" dirty="0"/>
            </a:p>
          </p:txBody>
        </p:sp>
        <p:sp>
          <p:nvSpPr>
            <p:cNvPr id="41" name="Text 4">
              <a:extLst>
                <a:ext uri="{FF2B5EF4-FFF2-40B4-BE49-F238E27FC236}">
                  <a16:creationId xmlns:a16="http://schemas.microsoft.com/office/drawing/2014/main" id="{A5E15360-3AB9-9195-B09B-6C3D988B70B4}"/>
                </a:ext>
              </a:extLst>
            </p:cNvPr>
            <p:cNvSpPr/>
            <p:nvPr/>
          </p:nvSpPr>
          <p:spPr>
            <a:xfrm>
              <a:off x="457200" y="3291840"/>
              <a:ext cx="53035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Chaque élève a le droit d'apprendre dans un environnement sûr, bienveillant et respectueux.</a:t>
              </a:r>
              <a:endParaRPr lang="en-US" sz="13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ECD506F1-FB9B-44AF-098B-9CBBBA323B41}"/>
                </a:ext>
              </a:extLst>
            </p:cNvPr>
            <p:cNvSpPr/>
            <p:nvPr/>
          </p:nvSpPr>
          <p:spPr>
            <a:xfrm>
              <a:off x="457200" y="4663440"/>
              <a:ext cx="5486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Merci de votre attention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94906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FDA726-F26E-6D84-912E-03A2385297C4}"/>
              </a:ext>
            </a:extLst>
          </p:cNvPr>
          <p:cNvGrpSpPr/>
          <p:nvPr/>
        </p:nvGrpSpPr>
        <p:grpSpPr>
          <a:xfrm>
            <a:off x="6126480" y="1188720"/>
            <a:ext cx="2651760" cy="3474720"/>
            <a:chOff x="6126480" y="1188720"/>
            <a:chExt cx="2651760" cy="3474720"/>
          </a:xfrm>
        </p:grpSpPr>
        <p:sp>
          <p:nvSpPr>
            <p:cNvPr id="7" name="Shape 5"/>
            <p:cNvSpPr/>
            <p:nvPr/>
          </p:nvSpPr>
          <p:spPr>
            <a:xfrm>
              <a:off x="6126480" y="1188720"/>
              <a:ext cx="2651760" cy="3474720"/>
            </a:xfrm>
            <a:prstGeom prst="rect">
              <a:avLst/>
            </a:prstGeom>
            <a:solidFill>
              <a:srgbClr val="990011"/>
            </a:solidFill>
            <a:ln/>
            <a:effectLst>
              <a:outerShdw blurRad="127000" dist="38100" dir="81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6126480" y="1280160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À RETENIR</a:t>
              </a:r>
              <a:endParaRPr lang="en-US" sz="13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217920" y="1783080"/>
              <a:ext cx="2468880" cy="274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Éduquer, pas seulement punir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Impliquer les familles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Agir dès les premiers signes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Soutenir les victimes</a:t>
              </a:r>
              <a:endParaRPr lang="en-US" sz="1150" dirty="0"/>
            </a:p>
            <a:p>
              <a:pPr marL="342900" indent="-342900">
                <a:buSzPct val="100000"/>
                <a:buChar char="•"/>
              </a:pPr>
              <a:r>
                <a:rPr lang="en-US" sz="11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Former les enseignants</a:t>
              </a:r>
              <a:endParaRPr lang="en-US" sz="115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46D6A1-BC04-C0DA-AA76-DA9C297172C5}"/>
              </a:ext>
            </a:extLst>
          </p:cNvPr>
          <p:cNvGrpSpPr/>
          <p:nvPr/>
        </p:nvGrpSpPr>
        <p:grpSpPr>
          <a:xfrm>
            <a:off x="457200" y="320040"/>
            <a:ext cx="8229600" cy="4709160"/>
            <a:chOff x="457200" y="320040"/>
            <a:chExt cx="8229600" cy="4709160"/>
          </a:xfrm>
        </p:grpSpPr>
        <p:sp>
          <p:nvSpPr>
            <p:cNvPr id="3" name="Text 1"/>
            <p:cNvSpPr/>
            <p:nvPr/>
          </p:nvSpPr>
          <p:spPr>
            <a:xfrm>
              <a:off x="457200" y="320040"/>
              <a:ext cx="82296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 — AVIS PERSONNEL</a:t>
              </a:r>
              <a:endParaRPr lang="en-US" sz="14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457200" y="914400"/>
              <a:ext cx="8229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Notre conclusion</a:t>
              </a:r>
              <a:endParaRPr lang="en-US" sz="34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57200" y="1828800"/>
              <a:ext cx="530352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violence scolaire est un problème grave qui nécessite l'engagement collectif de toute la société. Il ne suffit pas de punir — il faut comprendre, prévenir et accompagner.</a:t>
              </a:r>
              <a:endParaRPr lang="en-US" sz="15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57200" y="3291840"/>
              <a:ext cx="53035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Chaque élève a le droit d'apprendre dans un environnement sûr, bienveillant et respectueux.</a:t>
              </a:r>
              <a:endParaRPr lang="en-US" sz="13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57200" y="4663440"/>
              <a:ext cx="5486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Merci de votre attention</a:t>
              </a:r>
              <a:endParaRPr lang="en-US" sz="12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1256</Words>
  <Application>Microsoft Office PowerPoint</Application>
  <PresentationFormat>On-screen Show (16:9)</PresentationFormat>
  <Paragraphs>255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Violence Scolaire</dc:title>
  <dc:subject>PptxGenJS Presentation</dc:subject>
  <dc:creator>PptxGenJS</dc:creator>
  <cp:lastModifiedBy>ilyass zhimi</cp:lastModifiedBy>
  <cp:revision>2</cp:revision>
  <dcterms:created xsi:type="dcterms:W3CDTF">2026-04-19T11:24:50Z</dcterms:created>
  <dcterms:modified xsi:type="dcterms:W3CDTF">2026-04-19T12:59:57Z</dcterms:modified>
</cp:coreProperties>
</file>